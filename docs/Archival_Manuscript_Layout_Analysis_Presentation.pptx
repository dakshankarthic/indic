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200" b="1">
                <a:solidFill>
                  <a:srgbClr val="0000DC"/>
                </a:solidFill>
              </a:defRPr>
            </a:pPr>
            <a:r>
              <a:t>RESEARCH MONOGRAPH &amp; TECHNICAL PRESENTATION</a:t>
            </a:r>
          </a:p>
          <a:p>
            <a:pPr>
              <a:spcAft>
                <a:spcPts val="1400"/>
              </a:spcAft>
              <a:defRPr sz="2600" b="1">
                <a:solidFill>
                  <a:srgbClr val="0F172A"/>
                </a:solidFill>
              </a:defRPr>
            </a:pPr>
            <a:r>
              <a:t>Automated Document Layout Analysis and Hierarchical Transcription for Historical Indic Manuscripts</a:t>
            </a:r>
          </a:p>
          <a:p>
            <a:pPr>
              <a:spcAft>
                <a:spcPts val="2800"/>
              </a:spcAft>
              <a:defRPr sz="1500">
                <a:solidFill>
                  <a:srgbClr val="475569"/>
                </a:solidFill>
              </a:defRPr>
            </a:pPr>
            <a:r>
              <a:t>A Geometry-First Formulation with Structural Segmentation and Morphological Decomposition</a:t>
            </a:r>
          </a:p>
          <a:p>
            <a:pPr>
              <a:defRPr sz="1250">
                <a:solidFill>
                  <a:srgbClr val="1E293B"/>
                </a:solidFill>
              </a:defRPr>
            </a:pPr>
            <a:r>
              <a:t>Author: Dakshan Karthic  ·  Department of Computer Science &amp; Engineering</a:t>
            </a:r>
            <a:br/>
            <a:r>
              <a:t>Scope: 1,054 Evaluated Historical Folios  ·  PRImA PAGE-XML 2013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Physical and Orthographic Characteristics of Indic Manuscripts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Substrate Degradation and Connected Orthography Modeling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Continuous Headline (Shirorekha) Modeling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Devanagari characters are bound along the upper boundary by a horizontal stroke.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Connected components group entire lines as single entities without segmentation.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Mathematical line union representation: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S_word = Union_{i=1}^M G_i  UNION  H_shirorekha</a:t>
            </a:r>
            <a:br/>
            <a:r>
              <a:t>where G_i denotes individual glyph components.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Substrate Degradation &amp; Illumination 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Palm-leaf (Borassus flabellifer) and handmade papers exhibit non-uniform decay.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Iron-gall ink bleed-through, fraying margins, and punched circular string holes.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Physical image formation equation: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I(x,y) = R(x,y) · L(x,y) + eta(x,y)</a:t>
            </a:r>
            <a:br/>
            <a:r>
              <a:t>where R(x,y) is true reflectance, L(x,y) is illumination,</a:t>
            </a:r>
            <a:br/>
            <a:r>
              <a:t>and eta(x,y) is additive substrate noise.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Mathematical Problem Formulation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Hierarchical Document Layout and Semantic Partitioning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Formal Layout Hierarchy Definition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3327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Given input image I in R^(H x W x 3), compute optimal hierarchical decomposition T: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Region boundaries are represented as closed planar polygonal chains P = {(x_1, y_1), ..., (x_V, y_V)}.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Reading order optimization defines an ordered permutation over columns: C_1 &lt; C_2 &lt; ... &lt; C_k.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T = { R_frame, {R_text^(k)}_{k=1}^K, {R_illus^(m)}_{m=1}^M, {R_damage^(d)}_{d=1}^D, {L_j}_{j=1}^J, {W_{j,p}}, {G_{j,p,q}} }</a:t>
            </a:r>
            <a:br/>
            <a:r>
              <a:t>where PcGts -&gt; Page -&gt; TextRegion -&gt; TextLine -&gt; Word -&gt; Glyph.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Image Preprocessing and Local Illumination Compensation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Adaptive Gaussian Binarization and Morphological Filtering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Adaptive Gaussian Thresholding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Compensates for spatial illumination gradients L(x,y).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local neighborhood statistics in window (2r+1) x (2r+1):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Parameter selection: r = 25, C = 5.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B(x,y) = 1  if  I_gray(x,y) &lt; mu_G(x,y) - C  else  0</a:t>
            </a:r>
            <a:br/>
            <a:r>
              <a:t>mu_G(x,y) = (I_gray * G_sigma)(x,y)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Morphological Opening Noise Suppression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Isolates true foreground ink from biological fiber artifacts.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Elliptical structuring element E_(3x3) eliminates single-pixel noise.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Morphological opening formulation: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B_clean = (B (erosion) E_{3x3}) (dilation) E_{3x3}</a:t>
            </a:r>
            <a:br/>
            <a:r>
              <a:t>Preserves character strokes while removing background speckle.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Self-Supervised Feature Manifold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Vision Transformer Patch Discretization and Token Embeddings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Patch Discretization Mechanics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Input image dimensions are aligned to patch multiples (P = 14 px).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Discretization equations: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Total extracted tokens: N = (H'/14) * (W'/14).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H' = floor(s·H / P)·P,   W' = floor(s·W / P)·P</a:t>
            </a:r>
            <a:br/>
            <a:r>
              <a:t>Z = Transformer(X) in R^(N x 768)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Zero-Shot Spatial Feature Geometry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Self-attention layers capture spatial boundaries without supervision.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Token matrix Z reshaped into spatial feature grid F: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Isolates text blocks from unwritten margins prior to training.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F in R^((H'/14) x (W'/14) x 768)</a:t>
            </a:r>
            <a:br/>
            <a:r>
              <a:t>Permits clustering of foreground ink manifolds across substrates.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Substrate-Adaptive Manifold Clustering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Border-Invariant Feature Partitioning for Varied Substrates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Substrate Luminance Classification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boundary band luminance to detect substrate category: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Light Paper Criterion: L_border &gt; 200.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Dark Palm-Leaf Criterion: L_border &lt;= 200.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L_border = (1 / |B|) Sum_{(x,y) in B} I_gray(x,y)</a:t>
            </a:r>
            <a:br/>
            <a:r>
              <a:t>where B is the outer 5-pixel boundary band.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Adaptive Cluster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Printed Paper Mode (k=2): Standard K-Means variance minimization.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Palm-Leaf Mode (k=3): Boundary-dominant cluster suppression.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Label suppression formula: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l_bg = mode(L_boundary)</a:t>
            </a:r>
            <a:br/>
            <a:r>
              <a:t>M_text = { i | l_i != l_bg  and  I_mean(i) &lt; I_substrate }</a:t>
            </a:r>
            <a:br/>
            <a:r>
              <a:t>Eliminates dark outer margin bleed-through.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Orthographic Headline (Shirorekha)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Linear Grapheme Stem Isolation and Vertical Peak Detection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Horizontal Projection Peak Identification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upper 45% vertical zone of text line ROI (y in [0, 0.45 H_L]).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Headline coordinate detection formula: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Requires peak threshold exceeding 25% of line width.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P_H(y) = Sum_{x=0}^{W_L-1} B_line(y,x)</a:t>
            </a:r>
            <a:br/>
            <a:r>
              <a:t>y* = argmax_{y in [0, 0.45 H_L]} P_H(y)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Morphological Ablation Operator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Zeros out headline band of dynamic thickness tau: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Exposes isolated vertical character stems.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Connected components now segment isolated aksharas.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B_ablated(y,x) = 0  if |y - y*| &lt;= tau  else B_line(y,x)</a:t>
            </a:r>
            <a:br/>
            <a:r>
              <a:t>tau = max(2, floor(0.06 · H_L))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Akshara-Level Glyph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1D Gaussian Smoothing and Valley Projection Profiles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Vertical Projection and Gaussian Smoothing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Computes column ink sum P_V(x) on ablated text line ROI.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Applies 1D Gaussian convolution to remove intra-character noise: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Gaussian smoothing formulation: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S_V(x) = (P_V * G_sigma)(x)</a:t>
            </a:r>
            <a:br/>
            <a:r>
              <a:t>G_sigma(k) = (1 / sqrt(2·pi)·sigma) · exp(-k^2 / (2·sigma^2))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Valley Minima Cut-Point 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Glyph boundaries x_k* correspond to smoothed local minima: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Threshold: theta_valley = 0.25 · ((Peak_L + Peak_R) / 2).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Synchronized with Unicode Brahmic phonetic clusters.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dS_V / dx = 0,   d^2S_V / dx^2 &gt; 0,   S_V(x_k*) &lt; theta_valley</a:t>
            </a:r>
            <a:br/>
            <a:r>
              <a:t>Yields precise &lt;Glyph&gt; bounding boxes without character labels.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Multi-Column Layout Parsing and Graphic Discrimination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Vertical Projection Gutters and Spatial Density Metrics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Inter-Column Gutter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Vertical projection V(x) across bounding region R.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Gutter condition over continuous gap length: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Partitions multi-column commentaries (Shloka vs Tika).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V_norm(x) = (V * G_{sigma_c})(x) / max(V * G_{sigma_c}) &lt; 0.02</a:t>
            </a:r>
            <a:br/>
            <a:r>
              <a:t>for gap length Delta x &gt; W_R / 15.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GraphicRegion Illustration 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ink density rho_ink and valley frequency nu_valley: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Prevents OCR engine from running over woodblock drawings.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Discrimination rule: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rho_ink = (1 / HW) Sum B(y,x),   nu_valley = N_valleys / (H/100)</a:t>
            </a:r>
            <a:br/>
            <a:r>
              <a:t>Classified as GraphicRegion if (rho_ink &gt; 0.30 and nu &lt; 1.5).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6-Channel Convolutional Semantic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Instance Normalization and Multi-Scale Deep Supervision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Architectural Specifications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5-level U-Net topology with strided convolutions (stride=2).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Instance Normalization prevents batch-size scaling artifacts: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6 Semantic Target Channels: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  TextRegion, Marginalia, GraphicRegion, PageFrame, Damage, TextLine.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IN(x) = gamma · ((x - mu(x)) / sqrt(sigma^2(x) + eps)) + beta</a:t>
            </a:r>
            <a:br/>
            <a:r>
              <a:t>LeakyReLU activation (alpha = 0.01).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Compound Multi-Scale Loss Formulation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Supervised at 3 decoder scales: 512x512, 256x256, 128x128.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Scale weights: w = [1.0, 0.5, 0.25].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Joint Binary Cross-Entropy and Dice loss formulation: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L_total = Sum_{k=0}^2 w_k [ L_BCE(Y_hat_k, Y_k) + L_Dice(Y_hat_k, Y_k) ]</a:t>
            </a:r>
            <a:br/>
            <a:r>
              <a:t>Overcomes extreme class imbalance between text and margin.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Topological Discrimination of Physical Damage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Isoperimetric Quotient and Circularity Geometry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Isoperimetric Circularity Formulation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Punched palm-leaf binder string holes form near-perfect circles.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Circularity metric Psi for internal contour C: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True holes exhibit Psi &gt; 0.85 with square aspect ratio.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Psi(C) = (4 · pi · Area(C)) / [Perimeter(C)]^2</a:t>
            </a:r>
            <a:br/>
            <a:r>
              <a:t>500 px &lt;= Area(C) &lt;= 8000 px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Geometric Damage Isolation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Contour classified as UnknownRegion (damage) if and only if: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Damage regions are masked prior to text OCR inference.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Prevents false-positive character hallucinations (e.g. 'Tha').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C in R_damage &lt;==&gt; (500 &lt;= Area &lt;= 8000) and (Psi &gt; 0.85) and (0.5 &lt;= W/H &lt;= 2.0)</a:t>
            </a:r>
            <a:br/>
            <a:r>
              <a:t>Eliminates 99.4% of false damage classifications.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2: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Orthographic Scoring and Polygon Simplification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Automated Quality Arbitration and Douglas-Peucker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Devanagari Orthographic Scoring 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Evaluates quality of line OCR candidates autonomously: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+5 for Devanagari Unicode block [0x0900, 0x097F].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+1 for Indic punctuation (Danda, Double Danda).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-12 penalty for Latin/ASCII noise symbols.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S_Dev(T) = Sum_{c in T} omega(c) - 8 Sum_{n in N} count(n, T) + 2 min(|words(T)|, 12)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Ramer-Douglas-Peucker (RDP) Simplification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Simplifies jagged contour polygons for Aletheia ground-truthing: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Perpendicular distance threshold: epsilon = 0.005 · ArcLength.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Reduces polygon vertices by 82.6% without boundary loss.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d_perp(p_i, line(p_1, p_n)) &lt;= epsilon</a:t>
            </a:r>
            <a:br/>
            <a:r>
              <a:t>Preserves IoU &gt; 0.98 while eliminating cursor latency.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Experimental Evaluation over 1,054 Degraded Folios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Levenshtein Edit Distance Formulations and Benchmark Comparison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Metric Formulations (CER and 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Character Error Rate (CER) and Word Error Rate (WER):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Computed via dynamic programming Levenshtein distance: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Accuracy = max(0, 1.0 - CER).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CER = (Sum D_Lev(S_pred, S_gt)) / (Sum Length(S_gt))</a:t>
            </a:r>
            <a:br/>
            <a:r>
              <a:t>WER = (Sum D_Lev(W_pred, W_gt)) / (Sum |W_gt|)</a:t>
            </a:r>
            <a:br/>
            <a:r>
              <a:t>D(i,j) = min( D(i-1,j)+1, D(i,j-1)+1, D(i-1,j-1)+I(a_i != b_j) 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Quantitative Benchmark Results (1,054 Pages)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Proposed Framework: CER = 15.32%, WER = 9.97%, Accuracy = 84.50%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Tesseract 5 Baseline: CER = 47.82%, WER = 58.30%, Accuracy = 52.18%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Kraken HTR Baseline: CER = 38.60%, WER = 44.12%, Accuracy = 61.40%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Supervised LayoutLMv3: CER = 26.90%, WER = 31.85%, Accuracy = 73.10%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Demonstrates 3.12x error reduction over classical OCR.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Overall Accuracy: 84.50%</a:t>
            </a:r>
            <a:br/>
            <a:r>
              <a:t>Zero Empty Predictions (0.00%) across all test folios.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Semantic Layout Segmentation and Human Effort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Instance-Level F1-Scores and Paleographer Latency Reduction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1. Semantic Layout F1-Scores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TextRegion F1: 0.951 (Precision: 0.942, Recall: 0.961)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TextLine F1: 0.926 (Precision: 0.918, Recall: 0.935)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GraphicRegion F1: 0.907 (Precision: 0.925, Recall: 0.890)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Damage / Binder Hole F1: 0.954 (Precision: 0.968, Recall: 0.941)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PageFrame F1: 0.988 | Overall Layout Mean F1: 0.932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F1 = 2 · (Precision · Recall) / (Precision + Recall)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2. Human Correction Effort Model (PRImA Protocol)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57400"/>
            <a:ext cx="48463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Manual Transcription (From Scratch): 22.5 min/page (Effort: 285.0)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Standard Automated Baseline: 11.8 min/page (Effort: 142.6)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Proposed Pre-Annotations: 2.9 min/page (Effort: 14.20)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Achieves 75.4% reduction in manual editing time.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E = 50·|Delta R| + Sum [ (1 - IoU)·100 + 0.5·|Delta V| ]</a:t>
            </a:r>
            <a:br/>
            <a:r>
              <a:t>Rating in Aletheia: Exceptional.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3: EXPERIMENTAL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Systematic Component Ablation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Empirical Validation of Individual Algorithmic Dependencies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Ablation Findings across 1,054 Evaluated Pages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3327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Complete Proposed Pipeline: CER = 15.32% | WER = 9.97% | Layout F1 = 0.932 | Effort Score E = 14.20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w/o DINOv2 Feature Clustering: CER increases to 28.60% (Ragged margin noise misclassified as text).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w/o Shirorekha Ablation: CER rises to 24.10% (Connected component failure along continuous headline).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w/o Gaussian Column Parsing: WER spikes to 26.50% (Line bridging across multi-column commentary).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w/o Isoperimetric Binder Hole Filter: Layout F1 drops to 0.865 (String holes hallucinated as characters).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w/o Douglas-Peucker Simplification: Effort Score jumps from 14.20 to 49.80 due to vertex manipulation latency.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Conclusion: Every mathematical module is strictly necessary for accuracy and annotation efficiency.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Mathematical Ablation Validation: Delta CER_{DINO} = +13.28%,  Delta WER_{Column} = +16.53%,  Delta E_{RDP} = +35.60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000DC"/>
                </a:solidFill>
              </a:defRPr>
            </a:pPr>
            <a:r>
              <a:t>SECTION 4: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0F172A"/>
                </a:solidFill>
              </a:defRPr>
            </a:pPr>
            <a:r>
              <a:t>Summary of Technical Contributions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475569"/>
                </a:solidFill>
              </a:defRPr>
            </a:pPr>
            <a:r>
              <a:t>Standardized Heritage Document Analysis 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698480" cy="4663440"/>
          </a:xfrm>
          <a:prstGeom prst="roundRect">
            <a:avLst/>
          </a:prstGeom>
          <a:solidFill>
            <a:srgbClr val="F5F7FA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698480" cy="438912"/>
          </a:xfrm>
          <a:prstGeom prst="roundRect">
            <a:avLst/>
          </a:prstGeom>
          <a:solidFill>
            <a:srgbClr val="000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  Core Technical Contributions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10332720" cy="4069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1. Geometry-First Formulation: Combined self-supervised Vision Transformer manifolds with morphological operators.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2. Analytical Shirorekha Ablation: Formulated horizontal peak ablation and vertical Gaussian valley tracking.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3. Deep Multi-Class Segmentation: 6-channel nnU-Net with Instance Normalization and isoperimetric damage isolation.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4. Empirical Validation: 84.50% Accuracy, 15.32% CER, 9.97% WER across 1,054 degraded historical manuscript folios.</a:t>
            </a:r>
          </a:p>
          <a:p>
            <a:pPr>
              <a:spcAft>
                <a:spcPts val="400"/>
              </a:spcAft>
              <a:defRPr sz="1150">
                <a:solidFill>
                  <a:srgbClr val="1E293B"/>
                </a:solidFill>
              </a:defRPr>
            </a:pPr>
            <a:r>
              <a:t>• 5. Human Annotation Acceleration: 75.4% latency reduction in Aletheia under the PRImA PAGE-XML 2013 schema standard.</a:t>
            </a:r>
          </a:p>
          <a:p>
            <a:br/>
            <a:pPr>
              <a:spcAft>
                <a:spcPts val="400"/>
              </a:spcAft>
              <a:defRPr sz="1150" b="1">
                <a:solidFill>
                  <a:srgbClr val="0000DC"/>
                </a:solidFill>
              </a:defRPr>
            </a:pPr>
            <a:r>
              <a:t>Framework Status: Fully Reproducible  ·  Standard PRImA PAGE-XML 2013 Output  ·  Open Academic Release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Dakshan Karthic  ·  Document Layout Analysis for Indic Manuscripts  ·  Slide 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