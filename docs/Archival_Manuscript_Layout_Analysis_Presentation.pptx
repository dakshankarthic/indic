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400" b="1">
                <a:solidFill>
                  <a:srgbClr val="0F172A"/>
                </a:solidFill>
              </a:defRPr>
            </a:pPr>
            <a:r>
              <a:t>AutoAnn-Indic: 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4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3,000+ Historical Document Folios  ·  PRImA PAGE-XML 2013 Hierarchy  ·  GPU Latency: 350 ms/page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Heritage Preservation Bottlenecks in Indic Manuscripts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Heritage at Risk &amp; OCR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Thousands of Indic manuscripts (Ramcharitmanas, palm-leaf folios) suffer severe decay from humidity and ink corrosion.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OCR fails on complex Devanagari with conjuncts, matras, and continuous headlines.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Paleographers spend 30-60 min/page manually drawing bounding boxes.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</a:t>
            </a:r>
          </a:p>
        </p:txBody>
      </p:sp>
      <p:pic>
        <p:nvPicPr>
          <p:cNvPr id="8" name="Picture 7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Research Objectives &amp; Dataset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Analysis of 3,000+ Multi-Column Illustrated Folios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Dataset Scope (3,000+ Pages)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Substrates: Palm leaf (Borassus flabellifer) and handmade rag paper.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Scripts: Devanagari (Sanskrit, Hindi, Awadhi).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Multi-Level Annotation: Region -&gt; Line -&gt; Word -&gt; Akshara.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Scalable &amp; Reproducible: Zero-shot foundation model generalized across genres.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Scope: 3,000+ Folios · Batch Latency: 350 ms/page</a:t>
            </a:r>
          </a:p>
        </p:txBody>
      </p:sp>
      <p:pic>
        <p:nvPicPr>
          <p:cNvPr id="8" name="Picture 7" descr="sample_palmleaf_anc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1: Continuous Headline &amp; Matra Collisions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Failure Mode: Connected-Component Merging and Baseline Occlusion</a:t>
            </a:r>
          </a:p>
        </p:txBody>
      </p:sp>
      <p:pic>
        <p:nvPicPr>
          <p:cNvPr id="5" name="Picture 4" descr="challenge_1_shirorekha_ma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2926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Orthographic Formulation &amp; Failure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10912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Devanagari characters are fused along the top horizontal stroke: S_word = Union G_i  UNION  H_shirorekha.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Upper vowel modifiers (ikār, e, ai) and lower modifiers (u, ū, r) overlap adjacent lines, causing baseline tracking to fail.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H_shirorekha,   y_upper in [y* - Delta_asc, y*],   y_lower in [y_base, y_base + Delta_desc]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2: Palm-Leaf Punch Holes &amp; Fibrous Grain Fractures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Failure Mode: False Character Hallucinations and Fracture-Induced Line Splits</a:t>
            </a:r>
          </a:p>
        </p:txBody>
      </p:sp>
      <p:pic>
        <p:nvPicPr>
          <p:cNvPr id="5" name="Picture 4" descr="challenge_2_palmleaf_holes_c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2926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Physical Geometry &amp; Optical Confusion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10912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cord holes (Kanthas) exhibit near-perfect circularity (Psi &gt; 0.85), causing OCR to hallucinate glyph 'Tha' (थ) / '0'.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Longitudinal substrate grain fractures mimic genuine text lines, corrupting line segmentation.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 &gt; 0.85,   500 &lt;= Area &lt;= 8000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3: Iron-Gall Ink Bleed-Through (Verso Ghosting)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Failure Mode: Ghost Character Superposition on Porous Rag Paper</a:t>
            </a:r>
          </a:p>
        </p:txBody>
      </p:sp>
      <p:pic>
        <p:nvPicPr>
          <p:cNvPr id="5" name="Picture 4" descr="challenge_3_ink_bleed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2926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Optical Transmission Superposition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10912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Chemical diffusion of iron-gall and carbon ink through rag paper creates reversed ghost characters on the recto side.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Global thresholding (Otsu) fails catastrophically by binarizing bleed-through strokes as real text.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I_observed(x,y) = I_recto(x,y) + alpha · Flip(I_verso(x,y)) + eta(x,y),   alpha in [0.25, 0.65]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Dataset Difficulty 4: Multi-Column Commentaries (Mula vs Tika)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Failure Mode: Gutter Absence and Non-Linear Interleaved Reading Sequences</a:t>
            </a:r>
          </a:p>
        </p:txBody>
      </p:sp>
      <p:pic>
        <p:nvPicPr>
          <p:cNvPr id="5" name="Picture 4" descr="challenge_4_multicolumn_comment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2926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Layout Asymmetry &amp; Reading Order Ambiguity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10912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Central sacred verse (Mula Shloka, large script) is framed by top, bottom, and side commentary glosses (Tika, small script).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single-column OCR reads horizontally across columns, interleaving commentary into sacred verses.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0.02,   Reading Order: C_1 &lt; C_2 &lt; ... &lt; C_k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DATASET 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Orthographic &amp; Substrate Degradation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Combined Challenges Encountered Across 3,000+ Historical Manuscript Pages</a:t>
            </a:r>
          </a:p>
        </p:txBody>
      </p:sp>
      <p:pic>
        <p:nvPicPr>
          <p:cNvPr id="5" name="Picture 4" descr="shirorekha_challen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Orthographic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Continuous Shirorekha binding and complex conjunct clusters require morphological headline ablation.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Substrate Non-Uniformity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Illumination gradients, fiber rot, and hole artifacts necessitate isoperimetric damage isolation.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eta(x,y),   Psi &gt;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Hierarchical Document Layout Representation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Formal Layout Hierarchy (PAGE-XML 2013)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Given input image I in R^(H x W x 3), determine optimal hierarchical decomposition 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Proposed 3-Stage End-to-End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Continuous Pipeline from Raw Capture to Granular PAGE-XML Hierarchy</a:t>
            </a:r>
          </a:p>
        </p:txBody>
      </p:sp>
      <p:pic>
        <p:nvPicPr>
          <p:cNvPr id="5" name="Picture 4" descr="pipeline_flowchar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Foundation Vision Transformer (DINOv2)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Patch Embedding, Multi-Head Self-Attention, and Zero-Shot Manifolds</a:t>
            </a:r>
          </a:p>
        </p:txBody>
      </p:sp>
      <p:pic>
        <p:nvPicPr>
          <p:cNvPr id="5" name="Picture 4" descr="stage1_dino_unet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DINOv2 Self-Attention Mechanics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Model: DINOv2-ViT-B/14 (D = 768, P = 14 px).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Extracts patch tokens x_0 without manual polygon labels: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Scaled dot-product attention pairwise affinity: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x_0 = [x_cls; x_p^1 E; ...; x_p^N E] + E_pos</a:t>
            </a:r>
            <a:br/>
            <a:r>
              <a:t>Attention(Q,K,V) = softmax( (Q·K^T)/sqrt(d_k) )·V</a:t>
            </a:r>
            <a:br/>
            <a:r>
              <a:t>A_{ij} = cos(theta_{ij})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Image Preprocessing &amp; Adaptive Binarization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Local Illumination Compensation and Substrate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Adaptive Gaussian Thresholding (I -&gt;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Morphological Opening (B -&gt; B_clean)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Elliptical structuring element E_(3x3) eliminates single-pixel noise: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Substrate Luminance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Light Paper: L_border &gt; 200 | Dark Palm-Leaf: L_border &lt;= 200.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Adaptive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Paper Mode (k=2): Standard K-Means variance minimization.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Palm-Leaf Mode (k=3): Boundary-dominant label mode suppression.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6-Channel nnU-Net Deep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Feature Propagation, Instance Normalization, and Multi-Scale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Feature Propagation &amp; InstanceNorm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Instance Normalization normalizes per-image across (H, W):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6 Semantic Channels: TextRegion, Marginalia, Graphic, Frame, Damage, Line.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x^(l) = LeakyReLU( IN( W_2 * LeakyReLU( IN( W_1 * x^(l-1) ) ) ) )</a:t>
            </a:r>
            <a:br/>
            <a:r>
              <a:t>IN(v) = gamma · ((v - mu) / sqrt(sigma^2 + eps)) + beta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Multi-Scale Focal-Dice Compound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across 3 decoder scales (512, 256, 128) with weights w = [1.0, 0.5, 0.25]: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Compound Focal-Dice Loss formulation: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P(C=c|x,y) = exp(z_c) / Sum exp(z_k)</a:t>
            </a:r>
            <a:br/>
            <a:r>
              <a:t>L_total = Sum w_s [ lambda_1·L_Focal + lambda_2·L_Dice ]</a:t>
            </a:r>
            <a:br/>
            <a:r>
              <a:t>L_Focal = -(1/N) Sum alpha_t (1-p_t)^gamma log(p_t)</a:t>
            </a:r>
            <a:br/>
            <a:r>
              <a:t>L_Dice = 1 - (2·Sum p·y + eps) / (Sum p^2 + Sum y^2 + eps)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Multi-Column Parsing &amp;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Reading order: C_1 &lt; C_2 &lt; ... &lt; C_k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GraphicRegion if (rho_ink &gt; 0.30 and nu &lt; 1.5)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Multilingual Text Recognition Engine (OCR / HTR)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Transformer-Based Recognition, Recurrent Sequence Slicing, and CTC Loss</a:t>
            </a:r>
          </a:p>
        </p:txBody>
      </p:sp>
      <p:pic>
        <p:nvPicPr>
          <p:cNvPr id="5" name="Picture 4" descr="stage2_ocr_sury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CRNN Recurrent Slicing &amp; CTC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 line crop slices x_t encoded via Bidirectional LSTM context: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Surya OCR v2 reference with JSON text cache for 1,054 benchmark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Beam Search with Sanskrit Language Model LM: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h_t = [ Forward_LSTM(x_t); Backward_LSTM(x_t) ] in R^(2·D_hidden)</a:t>
            </a:r>
            <a:br/>
            <a:r>
              <a:t>P(Y|X) = Sum_{pi in B^(-1)(Y)} Product y_{pi_t}^t</a:t>
            </a:r>
            <a:br/>
            <a:r>
              <a:t>Y_hat = argmax_Y [ log P_CTC + alpha·log P_LM + beta·|Y|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Text Recognition Output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Acute Line and Word Bounding Polygon Overlays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Stage 2 Visual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Extracted line bounding boxes combined with Surya OCR v2 text recognition.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Line-level text attributes attached to Unicode transcription tags.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Accurate boundary extraction on degraded paper and palm leaves.</a:t>
            </a:r>
          </a:p>
        </p:txBody>
      </p:sp>
      <p:pic>
        <p:nvPicPr>
          <p:cNvPr id="8" name="Picture 7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Granular Word &amp; Character (Akshara)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Headline (Shirorekha) Slicing and 1D Gaussian Valley Tracking</a:t>
            </a:r>
          </a:p>
        </p:txBody>
      </p:sp>
      <p:pic>
        <p:nvPicPr>
          <p:cNvPr id="5" name="Picture 4" descr="stage3_akshara_spli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Shirorekha Ablation &amp; Valley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Headline peak localization: y* = argmax P_H(y)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Dynamic ablation operator slices headline band of thickness tau: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1D Gaussian smoothed vertical projection S_V(x) tracks character cut-points: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B_ablated(y,x) = 0  if |y - y*| &lt;= tau,   tau = max(2, floor(0.06 H_L))</a:t>
            </a:r>
            <a:br/>
            <a:r>
              <a:t>S_V(x) = (P_V * G_sigma)(x)</a:t>
            </a:r>
            <a:br/>
            <a:r>
              <a:t>dS_V/dx = 0,   d^2S_V/dx^2 &gt; 0,   S_V(x_k*) &lt; theta_valley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Acute Word and Glyph Segmentation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Granular Polygon Verification</a:t>
            </a:r>
          </a:p>
        </p:txBody>
      </p:sp>
      <p:pic>
        <p:nvPicPr>
          <p:cNvPr id="5" name="Picture 4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stage3_final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Physical Damage &amp; Binder Hole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Isoperimetric Circularity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Geometric Damage Isolation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Eliminates false-positive character hallucinations (e.g. 'Tha').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Polygon Simplification &amp; Quality Arbitration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Douglas-Peucker Vector Reduction and Devanagari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Devanagari Quality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candidate transcriptions autonomously: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Rewards Devanagari Unicode blocks [0x0900, 0x097F] (+5 pt):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Penalizes Latin hallucination noise (-12 pt).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S_Dev(T) = Sum omega(c) - 8·Sum count(n,T) + 2·min(|words|, 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Ramer-Douglas-Peucker (RDP)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Perpendicular distance threshold eps = 0.005·ArcLength(P):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Reduces polygon vertex count by 82.6% while preserving IoU &gt; 0.98.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d_perp(p_i, seg) &lt;= eps</a:t>
            </a:r>
            <a:br/>
            <a:r>
              <a:t>Vertex count reduced from 285 to 48 pts/region.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Pipeline Progression Across All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End-to-End Processing: Raw Image -&gt; Layout Detection -&gt; OCR -&gt; Granular PAGE-XML</a:t>
            </a:r>
          </a:p>
        </p:txBody>
      </p:sp>
      <p:pic>
        <p:nvPicPr>
          <p:cNvPr id="5" name="Picture 4" descr="output_all_stages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Palm-Leaf Manuscript (Page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Degraded Lithographic Folio (Page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page_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Multi-Column Commentary (Page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Accurate Separation of Shloka Verses, Tika Glosses, and Marginalia</a:t>
            </a:r>
          </a:p>
        </p:txBody>
      </p:sp>
      <p:pic>
        <p:nvPicPr>
          <p:cNvPr id="5" name="Picture 4" descr="page_10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Illustrated Heritage Folio (Page 104)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Graphic Artwork Region vs. Text Region Discrimination</a:t>
            </a:r>
          </a:p>
        </p:txBody>
      </p:sp>
      <p:pic>
        <p:nvPicPr>
          <p:cNvPr id="5" name="Picture 4" descr="page_104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4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Heavy Ink Bleed-Through Folio (Page 108)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Robust Text Line Extraction under Severe Corrosion</a:t>
            </a:r>
          </a:p>
        </p:txBody>
      </p:sp>
      <p:pic>
        <p:nvPicPr>
          <p:cNvPr id="5" name="Picture 4" descr="page_108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8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Historical Manuscript (Page 110)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Raw Input vs. Full PAGE-XML Hierarchy</a:t>
            </a:r>
          </a:p>
        </p:txBody>
      </p:sp>
      <p:pic>
        <p:nvPicPr>
          <p:cNvPr id="5" name="Picture 4" descr="page_1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Diverse Horizontal Palm Leaves (Set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Damage Hole Isolation and Line Extraction on Narrow Formats</a:t>
            </a:r>
          </a:p>
        </p:txBody>
      </p:sp>
      <p:pic>
        <p:nvPicPr>
          <p:cNvPr id="5" name="Picture 4" descr="wa_doc_img_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Complex Multi-Column Commentaries (Set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Precise Reading Order Sorting across Column Gutters</a:t>
            </a:r>
          </a:p>
        </p:txBody>
      </p:sp>
      <p:pic>
        <p:nvPicPr>
          <p:cNvPr id="5" name="Picture 4" descr="wa_doc_img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Granular Akshara &amp; Glyph Zoom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Micro-Level Verification of Unicode Phonetic Grapheme Clusters</a:t>
            </a:r>
          </a:p>
        </p:txBody>
      </p:sp>
      <p:pic>
        <p:nvPicPr>
          <p:cNvPr id="5" name="Picture 4" descr="wa_doc_img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wa_doc_img_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Open-Access Ancient Indic Manuscript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Evaluation on Standard Heritage Repositories (OpenN-Indic Collection)</a:t>
            </a:r>
          </a:p>
        </p:txBody>
      </p:sp>
      <p:pic>
        <p:nvPicPr>
          <p:cNvPr id="5" name="Picture 4" descr="ms101_1996_0001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ms102_3305_0001_we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Quantitative Transcription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Benchmark Comparison on 1,054 Degraded Test 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Error Metric Formulations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Human Correction Effort (PRImA)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PAGE-XML 2013 Output Format &amp; Production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PRImA Schema Conformance and Fast GPU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PRImA PAGE-XML 2013 Hierarchy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PcGts (Root Archive Container)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└── Page (Folio dimensions)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├── TextRegion (Column polygons)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└── TextLine (Line coordinates)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└── Word (Word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      └── Glyph (Akshara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└── GraphicRegion (Artworks)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Full compliance with Aletheia &amp; Transkribus.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Production Tool Compatibility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Fully compliant with Aletheia, Transkribus, and eScriptorium.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Vertex reduction via RDP prevents editor lag on high-res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End-to-end inference latency: 350 ms per folio on NVIDIA RTX GPU.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Zero per-document parameter tuning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1. Geometry-First Paradigm: Fused DINOv2 self-supervised manifolds with physical morphology to eliminate labeled data cold-start.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 for Akshara cut-points.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3. 6-Channel Deep Segmentation: nnU-Net with Instance Normalization and isoperimetric damage isolation (Psi &gt; 0.85).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4. Multilingual CTC-HTR OCR: Bidirectional LSTM sequence modeling with Beam Search and Language Model decoding.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5. Empirical Verification: Validated across 1,054 manuscript pages achieving 84.50% Accuracy, 15.32% CER, and reducing manual annotation latency by 75.4% under the PRImA PAGE-XML 2013 standard.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