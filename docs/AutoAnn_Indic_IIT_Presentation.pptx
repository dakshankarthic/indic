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600" b="1">
                <a:solidFill>
                  <a:srgbClr val="0F172A"/>
                </a:solidFill>
              </a:defRPr>
            </a:pPr>
            <a:r>
              <a:t>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5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1,054 Evaluated Historical Folios  ·  PRImA PAGE-XML 2013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Physical and Orthographic Characteristics of Indic Manuscripts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Substrate Degradation and Connected Orthography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Continuous Headline (Shirorekha)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Devanagari characters are bound along the upper boundary by a horizontal stroke.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Connected components group entire lines as single entities without segmentation.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Mathematical line union representation: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  <a:br/>
            <a:r>
              <a:t>where G_i denotes individual glyph components.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Substrate Degradation &amp; Illumination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Palm-leaf (Borassus flabellifer) and handmade papers exhibit non-uniform decay.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Iron-gall ink bleed-through, fraying margins, and punched circular string holes.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Physical image formation equation: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I(x,y) = R(x,y) · L(x,y) + eta(x,y)</a:t>
            </a:r>
            <a:br/>
            <a:r>
              <a:t>where R(x,y) is true reflectance, L(x,y) is illumination,</a:t>
            </a:r>
            <a:br/>
            <a:r>
              <a:t>and eta(x,y) is additive substrate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Hierarchical Document Layout and Semantic Partitioning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Formal Layout Hierarchy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Given input image I in R^(H x W x 3), compute optimal hierarchical decomposition T: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  <a:br/>
            <a:r>
              <a:t>where PcGts -&gt; Page -&gt; TextRegion -&gt; TextLine -&gt; Word -&gt; Glyph.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Image Preprocessing and Local Illumination Compensation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Adaptive Gaussian Binarization and Morphological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Adaptive Gaussian Thresholding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Morphological Opening Noise Suppression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Elliptical structuring element E_(3x3) eliminates single-pixel noise: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Morphological opening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speckle.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Self-Supervised Feature Manifold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Vision Transformer Patch Discretization and Token Embeddings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Patch Discretization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Input image dimensions are aligned to patch multiples (P = 14 px).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Discretization equations: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Total extracted tokens: N = (H'/14) * (W'/14).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H' = floor(s·H / P)·P,   W' = floor(s·W / P)·P</a:t>
            </a:r>
            <a:br/>
            <a:r>
              <a:t>Z = Transformer(X) in R^(N x 768)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Zero-Shot Spatial Feature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Self-attention layers capture spatial boundaries without supervision.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Token matrix Z reshaped into spatial feature grid F: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Isolates text blocks from unwritten margins prior to training.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 in R^((H'/14) x (W'/14) x 768)</a:t>
            </a:r>
            <a:br/>
            <a:r>
              <a:t>Permits clustering of foreground ink manifolds across substrates.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Substrate Luminance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Light Paper Criterion: L_border &gt; 200.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Dark Palm-Leaf Criterion: L_border &lt;= 200.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  <a:br/>
            <a:r>
              <a:t>where B is the outer 5-pixel boundary band.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Adaptive Cluster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Printed Paper Mode (k=2): Standard K-Means variance minimization.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Palm-Leaf Mode (k=3): Boundary-dominant cluster suppression.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Label suppression formula: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  <a:br/>
            <a:r>
              <a:t>Eliminates dark outer margin bleed-through.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Orthographic Headline (Shirorekha)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Linear Grapheme Stem Isolation and Vertical Peak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Horizontal Projection Peak Identification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upper 45% vertical zone of text line ROI (y in [0, 0.45 H_L]).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Headline coordinate detection formula: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Requires peak threshold exceeding 25% of line width.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P_H(y) = Sum_{x=0}^{W_L-1} B_line(y,x)</a:t>
            </a:r>
            <a:br/>
            <a:r>
              <a:t>y* = argmax_{y in [0, 0.45 H_L]} P_H(y)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Morphological Ablation Operator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Zeros out headline band of dynamic thickness tau: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Exposes isolated vertical character stems.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Connected components now segment isolated aksharas.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B_ablated(y,x) = 0  if |y - y*| &lt;= tau  else B_line(y,x)</a:t>
            </a:r>
            <a:br/>
            <a:r>
              <a:t>tau = max(2, floor(0.06 · H_L))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Akshara-Level Glyph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1D Gaussian Smoothing and Valley Projection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Vertical Projection and Gaussian Smoothing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Computes column ink sum P_V(x) on ablated text line ROI.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Applies 1D Gaussian convolution to remove intra-character noise: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Gaussian smoothing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S_V(x) = (P_V * G_sigma)(x)</a:t>
            </a:r>
            <a:br/>
            <a:r>
              <a:t>G_sigma(k) = (1 / sqrt(2·pi)·sigma) · exp(-k^2 / (2·sigma^2))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Valley Minima Cut-Point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Glyph boundaries x_k* correspond to smoothed local minima: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Threshold: theta_valley = 0.25 · ((Peak_L + Peak_R) / 2).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Synchronized with Unicode Brahmic phonetic clusters.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dS_V / dx = 0,   d^2S_V / dx^2 &gt; 0,   S_V(x_k*) &lt; theta_valley</a:t>
            </a:r>
            <a:br/>
            <a:r>
              <a:t>Yields precise &lt;Glyph&gt; bounding boxes without character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Multi-Column Layout Parsing and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for gap length Delta x &gt; W_R / 15.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Discrimination rule: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Classified as GraphicRegion if (rho_ink &gt; 0.30 and nu &lt; 1.5).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6-Channel Convolutional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Instance Normalization and Multi-Scale Deep Supervision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Architectural Specifications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Instance Normalization prevents batch-size scaling artifacts: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6 Semantic Target Channels: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 TextRegion, Marginalia, GraphicRegion, PageFrame, Damage, TextLine.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IN(x) = gamma · ((x - mu(x)) / sqrt(sigma^2(x) + eps)) + beta</a:t>
            </a:r>
            <a:br/>
            <a:r>
              <a:t>LeakyReLU activation (alpha = 0.01).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Compound Multi-Scale Loss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Supervised at 3 decoder scales: 512x512, 256x256, 128x128.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Scale weights: w = [1.0, 0.5, 0.25].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Joint Binary Cross-Entropy and Dice loss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L_total = Sum_{k=0}^2 w_k [ L_BCE(Y_hat_k, Y_k) + L_Dice(Y_hat_k, Y_k) ]</a:t>
            </a:r>
            <a:br/>
            <a:r>
              <a:t>Overcomes extreme class imbalance between text and margin.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Topological Discrimination of Physical Damage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Isoperimetric Circularity Formulation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Geometric Damage Isolation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Contour classified as UnknownRegion (damage) if and only if: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Prevents false-positive character hallucinations (e.g. 'Tha').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  <a:br/>
            <a:r>
              <a:t>Eliminates 99.4% of false damage classifications.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Visual Document Layout Parsing: Degraded Lithographic 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Side-by-Side Verification of Segmented Bounding Polygons</a:t>
            </a:r>
          </a:p>
        </p:txBody>
      </p:sp>
      <p:pic>
        <p:nvPicPr>
          <p:cNvPr id="5" name="Picture 4" descr="input_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6" name="Picture 5" descr="output_annot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VISUAL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Visual Document Layout Parsing: Palm-Leaf Manuscript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Topological Binder Hole Isolation and Text Line Boundaries</a:t>
            </a:r>
          </a:p>
        </p:txBody>
      </p:sp>
      <p:pic>
        <p:nvPicPr>
          <p:cNvPr id="5" name="Picture 4" descr="input_lea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5120640" cy="4389120"/>
          </a:xfrm>
          <a:prstGeom prst="rect">
            <a:avLst/>
          </a:prstGeom>
        </p:spPr>
      </p:pic>
      <p:pic>
        <p:nvPicPr>
          <p:cNvPr id="6" name="Picture 5" descr="output_leaf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64592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Experimental Evaluation over 1,054 Degraded Folios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Levenshtein Edit Distance Formulations and Benchmark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Metric Formulations (CER and 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  <a:br/>
            <a:r>
              <a:t>D(i,j) = min( D(i-1,j)+1, D(i,j-1)+1, D(i-1,j-1)+I(a_i != b_j) 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Quantitative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all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Human Correction Effort Model (PRImA Protocol)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  <a:br/>
            <a:r>
              <a:t>Rating in Aletheia: Exceptional.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1. Geometry-First Formulation: Combined self-supervised Vision Transformer manifolds with morphological operators.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3. Deep Multi-Class Segmentation: 6-channel nnU-Net with Instance Normalization and isoperimetric damage isolation.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4. Empirical Verification: 84.50% Accuracy, 15.32% CER, 9.97% WER across 1,054 degraded historical manuscript folios.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5. Human Annotation Acceleration: 75.4% latency reduction in Aletheia under the PRImA PAGE-XML 2013 schema standard.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Slide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