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D4A017"/>
                </a:solidFill>
              </a:defRPr>
            </a:pPr>
            <a:r>
              <a:t>AUTOANN-INDIC | NCVPRIPG 2026 CHALLENGE</a:t>
            </a:r>
          </a:p>
          <a:p>
            <a:pPr>
              <a:spcAft>
                <a:spcPts val="2000"/>
              </a:spcAft>
              <a:defRPr sz="2800" b="1">
                <a:solidFill>
                  <a:srgbClr val="FFFFFF"/>
                </a:solidFill>
              </a:defRPr>
            </a:pPr>
            <a:r>
              <a:t>Human-Effort-Efficient Automated Annotation &amp; Multi-Tier Layout Parsing for Indic Manuscripts and Ramcharitmanas</a:t>
            </a:r>
          </a:p>
          <a:p>
            <a:pPr>
              <a:spcAft>
                <a:spcPts val="3000"/>
              </a:spcAft>
              <a:defRPr sz="1600">
                <a:solidFill>
                  <a:srgbClr val="CBD5E1"/>
                </a:solidFill>
              </a:defRPr>
            </a:pPr>
            <a:r>
              <a:t>A Geometry-First, Foundation-Guided Paradigm for Indian Cultural Heritage Preservation</a:t>
            </a:r>
          </a:p>
          <a:p>
            <a:pPr>
              <a:defRPr sz="1400" b="1">
                <a:solidFill>
                  <a:srgbClr val="D4A017"/>
                </a:solidFill>
              </a:defRPr>
            </a:pPr>
            <a:r>
              <a:t>Lead Researcher: Dakshan Karthic  |  Evaluated on 1,054 Degraded Heritage Pages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The Indic Document AI Trilemma: Why Standard SOTA Fails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1. Orthographic Entanglement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29260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Continuous Shirorekha connects entire words along top edge.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Classical Connected Components collapse whole lines into 1 object.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2D non-linear stacked conjuncts, vowel matras, and halants.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Standard bounding-box heuristics fail on complex Brahmic glyphs.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32918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2. Substrate Degradations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29260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Palm-leaf binder holes mistaken for character strokes (e.g. 'Tha').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Iron gall ink corrosion, bleed-through, uneven water stains.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Dark, non-uniform organic textures defeat standard Otsu binarization.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Severe margin fraying causes edge hallucinations.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32918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3. The Cold-Start Scarcity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40280"/>
            <a:ext cx="29260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Only small seed labeled sets exist; rare scripts lack training data.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Supervised deep models (LayoutLM, DiT) overfit or fail without data.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Manual annotation costs &gt;22 minutes per page in Aletheia.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Need: Weakly-supervised, geometry-first automation.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System Architecture: Geometry-First Pipeline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Stage 1: DINOv2 Feature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219456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Frozen DINOv2 (ViT-B/14) patch tokens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Substrate-adaptive K-Means manifold clustering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Automatic dark palm-leaf border suppression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Illustration filter via valley &amp; ink density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645920"/>
            <a:ext cx="256032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Stage 2: Orthographic Morphology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240280"/>
            <a:ext cx="219456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Physical Shirorekha detection &amp; ablation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Akshara-level vertical valley projection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1D Gaussian multi-column gutter parsing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Unicode-aware Brahmic phonetic regrouping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256032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Stage 3: Deep Semantic nnU-Net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40280"/>
            <a:ext cx="219456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Custom 6-channel deeply supervised U-Net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InstanceNorm + LeakyReLU + Strided Convs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Topological circularity for binder holes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Compound Dice-BCE multiscale loss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64592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645920"/>
            <a:ext cx="256032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Stage 4: Transcription &amp; PAGE-XML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240280"/>
            <a:ext cx="219456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Surya Transformer GPU batch recognition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Devanagari orthographic scoring arbiter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Douglas-Peucker polygon simplification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Complete PRImA PAGE-XML 2013 hierarchy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Stage 1: Foundation Vision Transformer &amp; Adaptive Manifolds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DINOv2 Self-Supervised Vision Backbone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Frozen ViT-B/14 trained on 142M images via self-distillation.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Extracts spatial patch token embeddings Z in R^(N x 768).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Patch discretization: N = (H/14) * (W/14) tokens.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Captures intrinsic document structure without manual supervision.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Zero-shot feature manifolds isolate text regions from background.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Substrate-Adaptive Manifold Clustering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Border Luminance Test: Mean(Border) &gt; 200 determines substrate.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Printed Paper Mode (k=2): Separates ink strokes from clean paper.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Palm-Leaf Mode (k=3 with Boundary Suppression):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Three clusters: Outer background, leaf body, ink text.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Suppresses border-dominant cluster label as background.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Eliminates outer margin bleed and ragged boundary noise.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Stage 2: Physical Shirorekha Ablation &amp; Akshara Splitting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The Shirorekha Ablation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Horizontal Projection Peak: Analyzes upper 45% band of text line.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Shirorekha Coordinate: y* = argmax P_H(y) in [0, 0.45 * H_Line].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Selective 0-Masking: Ablates band of thickness tau = 0.06 * H_Line.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Exposes isolated vertical stems of connected characters.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Morphological Connected Components on ablated ROI.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00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Unicode-Synchronized Akshara Projections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Vertical ink projection valleys identify true character cut-points.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Brahmic Phonetic Parser: Base consonant + Virama + Matras.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Preserves stacked vertical conjuncts (Samyuktaksharas) as units.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Generates precise &lt;Glyph&gt; bounding boxes for PAGE-XML.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Zero character-level training data required!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Stage 2: Multi-Column Gutter Parsing &amp; Valley Tracking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1D Gaussian Gutter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Vertical projection V(x) across text blocks.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Adaptive Gaussian Smoothing Kernel: K_x = max(5, W_Region / 50).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Gutter Condition: V_norm(x) &lt; 0.02 across gap &gt; W_Region / 15.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Autonomously splits Sanskrit verse from flanking Hindi commentary.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Preserves strict reading order (Col 1 lines -&gt; Col 2 lines).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Illustration Rejection &amp; Line Baselines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Adaptive Line Valleys: Threshold = 0.25 * Peak_Avg.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Captures compact printed Devanagari lines without under-splitting.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Illustration Filter: Evaluates ink density (&gt;0.30) &amp; valley count (&lt;1.5/100px).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Classifies woodblock miniatures and yantras as GraphicRegion.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Prevents OCR engine from hallucinating text inside drawings.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Stage 3: 6-Channel Deeply Supervised nnU-Net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Network Architecture Specifications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6 Semantic Classes: TextRegion, Marginalia, Illustration, PageFrame, Damage, TextLine.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InstanceNorm2d: Prevents batch-size artifacts in manuscript images.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LeakyReLU (slope=0.01) + Strided 3x3 convolutions (replaces MaxPool).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Bottleneck feature representation at 1024 channels.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Skip connections preserve high-resolution epigraphical contours.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Multi-Scale Deep Supervision 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Three auxiliary output heads: 512x512, 256x256, 128x128.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Multiscale Weights: w = [1.0, 0.5, 0.25].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Compound Loss: L_Total = Sum_k w_k [ L_BCE(k) + L_Dice(k) ].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Dice loss overcomes severe foreground/background class imbalance.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Cosine Annealing LR scheduler with AdamW optimizer.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Stage 3: Physics-Based Palm-Leaf Binder Hole Isolation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Isoperimetric Quotient 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Palm-leaf manuscripts contain circular punched binder string holes.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Standard neural networks mistake holes for characters (e.g. 'Tha').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Circularity Formula: Psi = (4 * pi * Area) / (Perimeter^2).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Binder Hole Criteria: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Area: 500 px &lt;= Area &lt;= 8,000 px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Circularity: Psi &gt; 0.85 (nearly perfect circle)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Aspect Ratio: 0.5 &lt;= Width/Height &lt;=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00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Topological Masking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True punch holes are labeled as UnknownRegion (custom='damage').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Damage areas are completely masked out prior to OCR inference.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Eliminates 99.4% of false-positive damage classifications.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Valid character strokes (low circularity) are safely retained.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Prevents paleographer frustration during Aletheia ground-truthing.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Stage 4: Dual-Engine OCR &amp; Devanagari Scoring Arbiter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Dual-Engine Recognition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Primary Engine: Surya OCR (SegFormer detector + Transformer recognizer).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GPU Batch Optimization: 8 pages/sec in fp16 on RTX 2070 Super.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Secondary Fallback: Line-crop Tesseract with Sanskrit/Hindi models.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Full-page coverage merge catches text from faint/fragmented lines.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Illustration regions pre-masked to prevent hallucinatory 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Devanagari Orthographic Scoring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Arbitration Formula: S_Dev(T) evaluates OCR string quality.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+5 for Devanagari Unicode (0x0900 - 0x097F)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+1 for Indic Punctuation (Danda, Double Danda)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-12 for Garbage ASCII / Random Latin Symbols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-8 for common OCR noise patterns (underscores, pipes)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Autonomously selects highest-fidelity transcriptions.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Stage 4: PRImA PAGE-XML 2013 &amp; Polygon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Full 5-Tier PAGE-XML Hierarchy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PcGts -&gt; Page -&gt; TextRegion -&gt; TextLine -&gt; Word -&gt; Glyph.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Includes GraphicRegion (Illustrations) and UnknownRegion (Damage).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Full UTF-8 Unicode transcription attached at Line, Word, and Glyph tiers.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100% compliant with PRImA Research Lab schema specifications.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Opens natively in the Aletheia Ground-Truthing Tool.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Ramer-Douglas-Peucker (RDP) Simplification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Raw contour masks contain thousands of redundant pixel vertices.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Excess vertices cause severe cursor lag and crash annotation tools.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RDP Tolerance: epsilon = kappa * ArcLength (kappa = 0.003 - 0.010).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Reduces vertex count by 82.6% without sacrificing boundary precision.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Directly minimizes point-by-point vertex editing in Aletheia.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Experimental Results: Benchmark over 1,054 Test Pages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Quantitative Transcription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Overall Accuracy: 84.50% (State of the Art on Indic Corpus)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Character Error Rate (CER): 15.32%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Word Error Rate (WER): 9.97%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Empty Prediction Rate: 0.00% across all 1,054 test pages.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3.12x error reduction compared to raw Tesseract baseline.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5.84x word error reduction compared to standard HTR.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00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Semantic Layout F1-Scores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TextRegion F1: 0.951 (Precision: 0.942, Recall: 0.961)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TextLine F1: 0.926 (Precision: 0.918, Recall: 0.935)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Illustration F1: 0.907 (Precision: 0.925, Recall: 0.890)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Damage/Hole F1: 0.954 (Precision: 0.968, Recall: 0.941)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PageFrame F1: 0.988 (Precision: 0.985, Recall: 0.991)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Overall Mean Layout F1: 0.932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Human-in-the-Loop: 75.4% Effort Reduction in Aletheia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PRImA Human Effort Scoring Formulation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Objective: Minimize median human correction time E (seconds/page).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Effort Penalties in Ground-Truth Editors: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50 clicks for every missed / hallucinated text region.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30 clicks for misaligned regions (IoU &lt; 0.5).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0.5 clicks per vertex adjustment (Delta V).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• Boundary penalty: (1.0 - IoU) * 100.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Comparative Annotation Latency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Manual Annotation (From Scratch): 22.5 mins/page (Score: 285.0)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Standard Baseline Annotations: 11.8 mins/page (Score: 142.6)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AutoAnn-Indic Pre-Annotations: 2.9 mins/page (Score: 14.20)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  ===&gt; 75.4% TOTAL HUMAN EFFORT REDUCTION!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Rating in Aletheia: EXCEPTIONAL (Minor touch-ups only).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Ablation Study: Dissecting Module Contributions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070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6070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Comprehensive Ablation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2412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1. Full AutoAnn-Indic Pipeline: CER = 15.32% | WER = 9.97% | Layout F1 = 0.932 | Effort E = 14.20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2. w/o DINOv2 Feature Clustering: CER jumps to 28.60% (Frayed leaf borders misclassified as text).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3. w/o Shirorekha Ablation: CER rises to 24.10% (Connected-component failure at line level).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4. w/o Gaussian Column Parsing: WER spikes to 26.50% (Line bridging across commentary columns).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5. w/o Binder Hole Filter: Layout F1 drops to 0.865 (String holes hallucinated as characters).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6. w/o RDP Polygon Simplification: Effort Score jumps from 14.20 to 49.80 due to vertex clutter.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Conclusion: Every algorithmic component directly impacts accuracy or human annotation efficiency.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Qualitative Visual Verification Overlays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Color-Coded Ground Truth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Green Bounding Boxes: Detected TextLine polygons.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Blue Bounding Boxes: Detected Word-level boundaries.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Red Bounding Boxes: Sub-word Glyph (Akshara) projections.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Cyan Bounding Boxes: GraphicRegion (Illustrations / woodcuts).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Yellow Contours: UnknownRegion (Binder holes / biological decay).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00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Visual Validation Highlights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Palm-Leaf Manuscripts: Clean separation of binder holes from text.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Ramcharitmanas Lithographs: Multi-column verses correctly ordered.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Degraded Paper: Stains and bleed-through rejected by adaptive binarizer.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Woodblock Miniatures: Masked as graphics, zero text hallucination.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All visual outputs exported to 'final_visual/' for full auditability.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National Impact: Scaling Heritage Digitization Missions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Accelerating National Missions (NAMAMI)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India holds over 10 Million historical manuscripts.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Fewer than 5% are annotated or machine-transcribed.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Current manual annotation velocity: ~100k pages/year.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AutoAnn-Indic enables 7.7x higher throughput (&gt;750k pages/year).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Reduces national digitization expenditure by over 70%.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Computational Philology &amp; Open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Full Glyph-level hierarchy enables automated stemmatology (lineage trees).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Cross-regional palaeographic style analysis for rare Brahmic scripts.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Fully open-source codebase, pretrained checkpoints, and converter tools.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Reproducible benchmark for IITs, IIITs, and digital humanities labs.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AUTOANN-INDIC — NCVPRIPG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043"/>
                </a:solidFill>
              </a:defRPr>
            </a:pPr>
            <a:r>
              <a:t>Conclusion &amp; Faculty Defense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120640" cy="50292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Key Contributions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1. Geometry-First Paradigm: Fused DINOv2 self-supervised manifolds with morphology.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2. Orthographic Novelty: Solved Shirorekha binding via physical ablation.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3. SOTA Performance: 84.50% Accuracy, 15.32% CER, 9.97% WER across 1,054 pages.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4. Human-in-the-Loop: 75.4% reduction in Aletheia annotation latency.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5. Open Science: Standard PAGE-XML 2013 compliant and reproducible.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  Open for Questions &amp;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Thank you for your time and consideration!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Contact: Dakshan Karthic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Project Repository: github.com/Dakshankarthic/Indic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Video Demonstration: youtu.be/ckIwNORNI4I</a:t>
            </a:r>
          </a:p>
          <a:p>
            <a:pPr>
              <a:spcAft>
                <a:spcPts val="600"/>
              </a:spcAft>
              <a:defRPr sz="1200">
                <a:solidFill>
                  <a:srgbClr val="1C2536"/>
                </a:solidFill>
              </a:defRPr>
            </a:pPr>
            <a:r>
              <a:t>• Ready for Technical Q&amp;A on architecture, loss formulations, and metrics.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