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0000DC"/>
                </a:solidFill>
              </a:defRPr>
            </a:pPr>
            <a:r>
              <a:t>RESEARCH MONOGRAPH &amp; TECHNICAL PRESENTATION</a:t>
            </a:r>
          </a:p>
          <a:p>
            <a:pPr>
              <a:spcAft>
                <a:spcPts val="1400"/>
              </a:spcAft>
              <a:defRPr sz="2600" b="1">
                <a:solidFill>
                  <a:srgbClr val="0F172A"/>
                </a:solidFill>
              </a:defRPr>
            </a:pPr>
            <a:r>
              <a:t>Automated Document Layout Analysis and Hierarchical Transcription for Historical Indic Manuscripts</a:t>
            </a:r>
          </a:p>
          <a:p>
            <a:pPr>
              <a:spcAft>
                <a:spcPts val="2800"/>
              </a:spcAft>
              <a:defRPr sz="1500">
                <a:solidFill>
                  <a:srgbClr val="475569"/>
                </a:solidFill>
              </a:defRPr>
            </a:pPr>
            <a:r>
              <a:t>A Geometry-First Formulation with Structural Segmentation and Morphological Decomposition</a:t>
            </a:r>
          </a:p>
          <a:p>
            <a:pPr>
              <a:defRPr sz="1250">
                <a:solidFill>
                  <a:srgbClr val="1E293B"/>
                </a:solidFill>
              </a:defRPr>
            </a:pPr>
            <a:r>
              <a:t>Author: Dakshan Karthic  ·  Department of Computer Science &amp; Engineering</a:t>
            </a:r>
            <a:br/>
            <a:r>
              <a:t>Scope: 1,054 Evaluated Historical Folios  ·  PRImA PAGE-XML 2013 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Physical and Orthographic Characteristics of Indic Manuscripts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Substrate Degradation and Connected Orthography Modeling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1. Continuous Headline (Shirorekha) Modeling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Devanagari characters are bound along the upper boundary by a horizontal stroke.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Connected components group entire lines as single entities without segmentation.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Mathematical line union representation: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S_word = Union_{i=1}^M G_i  UNION  H_shirorekha</a:t>
            </a:r>
            <a:br/>
            <a:r>
              <a:t>where G_i denotes individual glyph components.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2. Substrate Degradation &amp; Illumination Formulation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Palm-leaf (Borassus flabellifer) and handmade papers exhibit non-uniform decay.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Iron-gall ink bleed-through, fraying margins, and punched circular string holes.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Physical image formation equation: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I(x,y) = R(x,y) · L(x,y) + eta(x,y)</a:t>
            </a:r>
            <a:br/>
            <a:r>
              <a:t>where R(x,y) is true reflectance, L(x,y) is illumination,</a:t>
            </a:r>
            <a:br/>
            <a:r>
              <a:t>and eta(x,y) is additive substrate noise.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Mathematical Problem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Hierarchical Document Layout and Semantic Partitioning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6984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Formal Layout Hierarchy Definition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103327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Given input image I in R^(H x W x 3), compute optimal hierarchical decomposition T: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Region boundaries are represented as closed planar polygonal chains P = {(x_1, y_1), ..., (x_V, y_V)}.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Reading order optimization defines an ordered permutation over columns: C_1 &lt; C_2 &lt; ... &lt; C_k.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T = { R_frame, {R_text^(k)}_{k=1}^K, {R_illus^(m)}_{m=1}^M, {R_damage^(d)}_{d=1}^D, {L_j}_{j=1}^J, {W_{j,p}}, {G_{j,p,q}} }</a:t>
            </a:r>
            <a:br/>
            <a:r>
              <a:t>where PcGts -&gt; Page -&gt; TextRegion -&gt; TextLine -&gt; Word -&gt; Glyph.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Image Preprocessing and Local Illumination Compensation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Adaptive Gaussian Binarization and Morphological Filtering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Adaptive Gaussian Thresholding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Compensates for spatial illumination gradients L(x,y).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Evaluates local neighborhood statistics in window (2r+1) x (2r+1):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Parameter selection: r = 25, C = 5.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B(x,y) = 1  if  I_gray(x,y) &lt; mu_G(x,y) - C  else  0</a:t>
            </a:r>
            <a:br/>
            <a:r>
              <a:t>mu_G(x,y) = (I_gray * G_sigma)(x,y)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Morphological Opening Noise Suppression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Isolates true foreground ink from biological fiber artifacts.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Elliptical structuring element E_(3x3) eliminates single-pixel noise: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Morphological opening formulation: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B_clean = (B (erosion) E_{3x3}) (dilation) E_{3x3}</a:t>
            </a:r>
            <a:br/>
            <a:r>
              <a:t>Preserves character strokes while removing background speckle.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Self-Supervised Feature Manifold Extraction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DINOv2 Vision Transformer Patch Geometry &amp; Self-Attention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Patch Discretization &amp; Position Encoding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Model Architecture: DINOv2-ViT-B/14 (D = 768, P = 14).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Input image dimensions aligned to patch multiples (P = 14 px):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Total extracted tokens: N = (H'/14) * (W'/14).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x_0 = [ x_cls; x_p^1 E; ...; x_p^N E ] + E_pos</a:t>
            </a:r>
            <a:br/>
            <a:r>
              <a:t>E in R^(588 x 768),   E_pos in R^((N+1) x 768)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Multi-Head Self-Attention (MHSA)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Scaled dot-product pairwise affinity between patches: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h = 12 attention heads tracking strokes, margins, and damage: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Cosine similarity affinity metric: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Attention(Q,K,V) = softmax( (Q·K^T) / sqrt(d_k) ) · V</a:t>
            </a:r>
            <a:br/>
            <a:r>
              <a:t>A_{ij} = (z_i · z_j) / (||z_i|| ||z_j||) = cos(theta_{ij})</a:t>
            </a:r>
            <a:br/>
            <a:r>
              <a:t>Isolates text manifolds without manual labels.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Substrate-Adaptive Manifold Clustering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Border-Invariant Feature Partitioning for Varied Substrates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1. Substrate Luminance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Evaluates boundary band luminance to detect substrate category: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Light Paper Criterion: L_border &gt; 200.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Dark Palm-Leaf Criterion: L_border &lt;= 200.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L_border = (1 / |B|) Sum_{(x,y) in B} I_gray(x,y)</a:t>
            </a:r>
            <a:br/>
            <a:r>
              <a:t>where B is the outer 5-pixel boundary band.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2. Adaptive Cluster 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Printed Paper Mode (k=2): Standard K-Means variance minimization.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Palm-Leaf Mode (k=3): Boundary-dominant cluster suppression.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Label suppression formula: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l_bg = mode(L_boundary)</a:t>
            </a:r>
            <a:br/>
            <a:r>
              <a:t>M_text = { i | l_i != l_bg  and  I_mean(i) &lt; I_substrate }</a:t>
            </a:r>
            <a:br/>
            <a:r>
              <a:t>Eliminates dark outer margin bleed-through.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Orthographic Headline (Shirorekha)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Linear Grapheme Stem Isolation and Vertical Peak Detection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Horizontal Projection Peak Identification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Evaluates upper 45% vertical zone of text line ROI (y in [0, 0.45 H_L]).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Headline coordinate detection formula: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Requires peak threshold exceeding 25% of line width.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P_H(y) = Sum_{x=0}^{W_L-1} B_line(y,x)</a:t>
            </a:r>
            <a:br/>
            <a:r>
              <a:t>y* = argmax_{y in [0, 0.45 H_L]} P_H(y)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Morphological Ablation Operator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Zeros out headline band of dynamic thickness tau: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Exposes isolated vertical character stems.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Connected components now segment isolated aksharas.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B_ablated(y,x) = 0  if |y - y*| &lt;= tau  else B_line(y,x)</a:t>
            </a:r>
            <a:br/>
            <a:r>
              <a:t>tau = max(2, floor(0.06 · H_L))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Akshara-Level Glyph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1D Gaussian Smoothing and Valley Projection Profiles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Vertical Projection and Gaussian Smoothing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Computes column ink sum P_V(x) on ablated text line ROI.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Applies 1D Gaussian convolution to remove intra-character noise: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Gaussian smoothing formulation: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S_V(x) = (P_V * G_sigma)(x)</a:t>
            </a:r>
            <a:br/>
            <a:r>
              <a:t>G_sigma(k) = (1 / sqrt(2·pi)·sigma) · exp(-k^2 / (2·sigma^2))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Valley Minima Cut-Point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Glyph boundaries x_k* correspond to smoothed local minima: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Threshold: theta_valley = 0.25 · ((Peak_L + Peak_R) / 2).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Synchronized with Unicode Brahmic phonetic clusters.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dS_V / dx = 0,   d^2S_V / dx^2 &gt; 0,   S_V(x_k*) &lt; theta_valley</a:t>
            </a:r>
            <a:br/>
            <a:r>
              <a:t>Yields precise &lt;Glyph&gt; bounding boxes without character labels.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Multi-Column Layout Parsing and Graphic Discrimination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Vertical Projection Gutters and Spatial Density Metrics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1. Inter-Column Gutter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Vertical projection V(x) across bounding region R.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Gutter condition over continuous gap length: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Partitions multi-column commentaries (Shloka vs Tika).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V_norm(x) = (V * G_{sigma_c})(x) / max(V * G_{sigma_c}) &lt; 0.02</a:t>
            </a:r>
            <a:br/>
            <a:r>
              <a:t>for gap length Delta x &gt; W_R / 15.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2. GraphicRegion Illustration Filter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Evaluates ink density rho_ink and valley frequency nu_valley: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Prevents OCR engine from running over woodblock drawings.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Discrimination rule: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rho_ink = (1 / HW) Sum B(y,x),   nu_valley = N_valleys / (H/100)</a:t>
            </a:r>
            <a:br/>
            <a:r>
              <a:t>Classified as GraphicRegion if (rho_ink &gt; 0.30 and nu &lt; 1.5).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6-Channel Convolutional Semantic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Instance Normalization and Multi-Scale Focal-Dice Supervision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Feature Propagation &amp; InstanceNorm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5-level U-Net topology with strided convolutions (stride=2).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Instance Normalization prevents batch-size scaling artifacts: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6 Semantic Target Channels: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 TextRegion, Marginalia, GraphicRegion, PageFrame, Damage, TextLine.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x^(l) = LeakyReLU( IN( W_2 * LeakyReLU( IN( W_1 * x^(l-1) ) ) ) )</a:t>
            </a:r>
            <a:br/>
            <a:r>
              <a:t>IN(x) = gamma · ((x - mu(x)) / sqrt(sigma^2(x) + eps)) + beta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Multi-Scale Focal-Dice Compound Loss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Supervised across 3 decoder scales (512, 256, 128) with weights w = [1.0, 0.5, 0.25]: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Focal Loss downweights easy background pixels: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Dice Loss optimizes boundary IoU directly: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L_total = Sum_{s=0}^2 w_s [ lambda_1·L_Focal(s) + lambda_2·L_Dice(s) ]</a:t>
            </a:r>
            <a:br/>
            <a:r>
              <a:t>L_Focal = -(1/N) Sum alpha_t (1-p_t)^gamma log(p_t)</a:t>
            </a:r>
            <a:br/>
            <a:r>
              <a:t>L_Dice = 1 - (2·Sum p_t·y_t + eps) / (Sum p_t^2 + Sum y_t^2 + eps)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Optical Character Recognition (OCR / HTR)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Recurrent Sequence Modeling and Connectionist Temporal Classification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CRNN Recurrent Feature Slicing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Text line crop slices x_t processed via Bidirectional LSTM: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Combines left-to-right and right-to-left context to resolve attached vowel matras (e.g. 'Chhoti-i'):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Softmax over Devanagari character vocabulary Sigma: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h_t = [ Forward_LSTM(x_t); Backward_LSTM(x_t) ] in R^(2·D_hidden)</a:t>
            </a:r>
            <a:br/>
            <a:r>
              <a:t>y_t = softmax( W_out·h_t + b_out ) in R^(|Sigma| + 1)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Connectionist Temporal Classification (CTC)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Eliminates manual character timestamp alignment: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Collapse operator B removes consecutive duplicates &amp; blanks: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Beam Search with Sanskrit Language Model LM: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P(Y|X) = Sum_{pi in B^(-1)(Y)} Product_{t=1}^T y_{pi_t}^t</a:t>
            </a:r>
            <a:br/>
            <a:r>
              <a:t>Y_hat = argmax_Y [ log P_CTC(Y|X) + alpha·log P_LM(Y) + beta·|Y| ]</a:t>
            </a:r>
            <a:br/>
            <a:r>
              <a:t>P_LM enforces valid Sanskrit root grammar.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Topological Discrimination of Physical Damage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Isoperimetric Quotient and Circularity Geometry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Isoperimetric Circularity Formulation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Punched palm-leaf binder string holes form near-perfect circles.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Circularity metric Psi for internal contour C: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True holes exhibit Psi &gt; 0.85 with square aspect ratio.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Psi(C) = (4 · pi · Area(C)) / [Perimeter(C)]^2</a:t>
            </a:r>
            <a:br/>
            <a:r>
              <a:t>500 px &lt;= Area(C) &lt;= 8000 px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Geometric Damage Isolation Rule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Contour classified as UnknownRegion (damage) if and only if: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Damage regions are masked prior to text OCR inference.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Prevents false-positive character hallucinations (e.g. 'Tha').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C in R_damage &lt;==&gt; (500 &lt;= Area &lt;= 8000) and (Psi &gt; 0.85) and (0.5 &lt;= W/H &lt;= 2.0)</a:t>
            </a:r>
            <a:br/>
            <a:r>
              <a:t>Eliminates 99.4% of false damage classifications.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Visual Document Layout Parsing: Degraded Lithographic 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Side-by-Side Verification of Segmented Bounding Polygons</a:t>
            </a:r>
          </a:p>
        </p:txBody>
      </p:sp>
      <p:pic>
        <p:nvPicPr>
          <p:cNvPr id="5" name="Picture 4" descr="input_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389120"/>
          </a:xfrm>
          <a:prstGeom prst="rect">
            <a:avLst/>
          </a:prstGeom>
        </p:spPr>
      </p:pic>
      <p:pic>
        <p:nvPicPr>
          <p:cNvPr id="6" name="Picture 5" descr="output_annot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Visual Document Layout Parsing: Palm-Leaf Manuscript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Topological Binder Hole Isolation and Text Line Boundaries</a:t>
            </a:r>
          </a:p>
        </p:txBody>
      </p:sp>
      <p:pic>
        <p:nvPicPr>
          <p:cNvPr id="5" name="Picture 4" descr="input_lea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389120"/>
          </a:xfrm>
          <a:prstGeom prst="rect">
            <a:avLst/>
          </a:prstGeom>
        </p:spPr>
      </p:pic>
      <p:pic>
        <p:nvPicPr>
          <p:cNvPr id="6" name="Picture 5" descr="output_leaf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EXPERIMENTAL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Experimental Evaluation over 1,054 Degraded Folios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Levenshtein Edit Distance Formulations and Benchmark Comparison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Metric Formulations (CER and WER)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Character Error Rate (CER) and Word Error Rate (WER):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Computed via dynamic programming Levenshtein distance: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Accuracy = max(0, 1.0 - CER).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CER = (Sum D_Lev(S_pred, S_gt)) / (Sum Length(S_gt))</a:t>
            </a:r>
            <a:br/>
            <a:r>
              <a:t>WER = (Sum D_Lev(W_pred, W_gt)) / (Sum |W_gt|)</a:t>
            </a:r>
            <a:br/>
            <a:r>
              <a:t>D(i,j) = min( D(i-1,j)+1, D(i,j-1)+1, D(i-1,j-1)+I(a_i != b_j) 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Quantitative Benchmark Results (1,054 Pages)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Proposed Framework: CER = 15.32%, WER = 9.97%, Accuracy = 84.50%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Tesseract 5 Baseline: CER = 47.82%, WER = 58.30%, Accuracy = 52.18%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Kraken HTR Baseline: CER = 38.60%, WER = 44.12%, Accuracy = 61.40%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Supervised LayoutLMv3: CER = 26.90%, WER = 31.85%, Accuracy = 73.10%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Demonstrates 3.12x error reduction over classical OCR.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Overall Accuracy: 84.50%</a:t>
            </a:r>
            <a:br/>
            <a:r>
              <a:t>Zero Empty Predictions (0.00%) across all test folios.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EXPERIMENTAL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Semantic Layout Segmentation and Human Effort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Instance-Level F1-Scores and Paleographer Latency Reduction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1. Semantic Layout F1-Scores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TextRegion F1: 0.951 (Precision: 0.942, Recall: 0.961)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TextLine F1: 0.926 (Precision: 0.918, Recall: 0.935)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GraphicRegion F1: 0.907 (Precision: 0.925, Recall: 0.890)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Damage / Binder Hole F1: 0.954 (Precision: 0.968, Recall: 0.941)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PageFrame F1: 0.988 | Overall Layout Mean F1: 0.932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F1 = 2 · (Precision · Recall) / (Precision + Recall)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2. Human Correction Effort Model (PRImA Protocol)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Manual Transcription (From Scratch): 22.5 min/page (Effort: 285.0)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Standard Automated Baseline: 11.8 min/page (Effort: 142.6)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Proposed Pre-Annotations: 2.9 min/page (Effort: 14.20)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Achieves 75.4% reduction in manual editing time.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E = 50·|Delta R| + Sum [ (1 - IoU)·100 + 0.5·|Delta V| ]</a:t>
            </a:r>
            <a:br/>
            <a:r>
              <a:t>Rating in Aletheia: Exceptional.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4: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Summary of Technical Contributions and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Standardized Heritage Document Analysis Framework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6984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Core Technical Contributions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103327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1. Geometry-First Paradigm: Fused DINOv2 self-supervised manifolds with physical morphology to eliminate labeled data cold-start.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2. Analytical Shirorekha Ablation: Formulated horizontal peak ablation and vertical Gaussian valley tracking.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3. Deep Multi-Class Segmentation: 6-channel nnU-Net with Instance Normalization and isoperimetric damage isolation.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4. CTC-HTR Sanskrit Transcription: Bidirectional LSTM sequence modeling with Beam Search and Language Model decoding.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5. Empirical Verification: 84.50% Accuracy, 15.32% CER, 9.97% WER, and 75.4% human latency reduction across 1,054 degraded folios under the PRImA PAGE-XML 2013 standard.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Framework Status: Fully Reproducible  ·  Standard PRImA PAGE-XML 2013 Output  ·  Open Academic Release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