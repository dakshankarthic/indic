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000DC"/>
                </a:solidFill>
              </a:defRPr>
            </a:pPr>
            <a:r>
              <a:t>RESEARCH MONOGRAPH &amp; TECHNICAL PRESENTATION</a:t>
            </a:r>
          </a:p>
          <a:p>
            <a:pPr>
              <a:spcAft>
                <a:spcPts val="1400"/>
              </a:spcAft>
              <a:defRPr sz="2400" b="1">
                <a:solidFill>
                  <a:srgbClr val="0F172A"/>
                </a:solidFill>
              </a:defRPr>
            </a:pPr>
            <a:r>
              <a:t>AutoAnn-Indic: Automated Document Layout Analysis and Hierarchical Transcription for Historical Indic Manuscripts</a:t>
            </a:r>
          </a:p>
          <a:p>
            <a:pPr>
              <a:spcAft>
                <a:spcPts val="2800"/>
              </a:spcAft>
              <a:defRPr sz="1400">
                <a:solidFill>
                  <a:srgbClr val="475569"/>
                </a:solidFill>
              </a:defRPr>
            </a:pPr>
            <a:r>
              <a:t>A Geometry-First Formulation with Structural Segmentation and Morphological Decomposition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Author: Dakshan Karthic  ·  Department of Computer Science &amp; Engineering</a:t>
            </a:r>
            <a:br/>
            <a:r>
              <a:t>Scope: 3,000+ Historical Document Folios  ·  PRImA PAGE-XML 2013 Hierarchy  ·  GPU Latency: 350 ms/page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Introduction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Heritage Preservation Bottlenecks in Indic Manuscripts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29768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4864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Heritage at Risk &amp; OCR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52120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Thousands of Indic manuscripts (Ramcharitmanas, palm-leaf folios) suffer severe decay from humidity and ink corrosion.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OCR fails on complex Devanagari with conjuncts, matras, and continuous headlines.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Paleographers spend 30-60 min/page manually drawing bounding boxes.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I(x,y) = R(x,y) · L(x,y) + eta(x,y)</a:t>
            </a:r>
          </a:p>
        </p:txBody>
      </p:sp>
      <p:pic>
        <p:nvPicPr>
          <p:cNvPr id="8" name="Picture 7" descr="sample_dataset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493776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Research Objectives &amp; Dataset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Analysis of 3,000+ Multi-Column Illustrated Folios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29768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4864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Dataset Scope (3,000+ Pages)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52120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Substrates: Palm leaf (Borassus flabellifer) and handmade rag paper.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Scripts: Devanagari (Sanskrit, Hindi, Awadhi).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Multi-Level Annotation: Region -&gt; Line -&gt; Word -&gt; Akshara.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Scalable &amp; Reproducible: Zero-shot foundation model generalized across genres.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Scope: 3,000+ Folios · Batch Latency: 350 ms/page</a:t>
            </a:r>
          </a:p>
        </p:txBody>
      </p:sp>
      <p:pic>
        <p:nvPicPr>
          <p:cNvPr id="8" name="Picture 7" descr="sample_palmleaf_anci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493776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Dataset Difficulty 1: Continuous Headline &amp; Matra Collisions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Real Manuscript Failure Mode: Connected-Component Merging</a:t>
            </a:r>
          </a:p>
        </p:txBody>
      </p:sp>
      <p:pic>
        <p:nvPicPr>
          <p:cNvPr id="5" name="Picture 4" descr="stage3_akshara_split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11480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12080" y="1554480"/>
            <a:ext cx="621792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1554480"/>
            <a:ext cx="621792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Orthographic Challenge Formulation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93392"/>
            <a:ext cx="59436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Devanagari characters are fused along the top horizontal stroke: S_word = Union G_i  UNION  H_shirorekha.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Upper vowel modifiers (ikār, e, ai) and lower modifiers (u, ū, r) overlap adjacent lines.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Classical connected-component algorithms merge entire multi-line sentences into a single unsegmentable blob.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S_word = Union_{i=1}^M G_i  UNION  H_shirorekha</a:t>
            </a:r>
            <a:br/>
            <a:r>
              <a:t>y_upper in [y* - Delta_asc, y*],   y_lower in [y_base, y_base + Delta_desc]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Dataset Difficulty 2: Palm-Leaf Punch Holes &amp; Fibrous Grain Fractures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Real Manuscript Failure Mode: False Character Hallucinations on Ancient Pothis</a:t>
            </a:r>
          </a:p>
        </p:txBody>
      </p:sp>
      <p:pic>
        <p:nvPicPr>
          <p:cNvPr id="5" name="Picture 4" descr="wa_doc_img_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937760" cy="2103120"/>
          </a:xfrm>
          <a:prstGeom prst="rect">
            <a:avLst/>
          </a:prstGeom>
        </p:spPr>
      </p:pic>
      <p:pic>
        <p:nvPicPr>
          <p:cNvPr id="6" name="Picture 5" descr="sample_dataset_in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40480"/>
            <a:ext cx="4937760" cy="2377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43600" y="1554480"/>
            <a:ext cx="548640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54864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Physical Geometry &amp; Optical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993392"/>
            <a:ext cx="52120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Punched cord holes (Kanthas) form near-perfect circular voids with Psi &gt; 0.85.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OCR engines falsely hallucinate round Sanskrit characters (e.g. 'Tha' or '0').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Longitudinal substrate grain fractures mimic genuine text lines, corrupting line segmentation.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Psi(C) = (4 · pi · Area(C)) / [Perimeter(C)]^2 &gt; 0.85</a:t>
            </a:r>
            <a:br/>
            <a:r>
              <a:t>500 px &lt;= Area(C) &lt;= 8000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Dataset Difficulty 3: Iron-Gall Ink Bleed-Through (Verso Ghosting)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Real Manuscript Failure Mode: Ghost Character Superposition on Degraded Paper</a:t>
            </a:r>
          </a:p>
        </p:txBody>
      </p:sp>
      <p:pic>
        <p:nvPicPr>
          <p:cNvPr id="5" name="Picture 4" descr="page_108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38912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554480"/>
            <a:ext cx="594360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0" y="1554480"/>
            <a:ext cx="59436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Optical Transmission Superposition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993392"/>
            <a:ext cx="5669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Corrosion and high paper porosity cause verso ink diffusion: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Transmission coefficient alpha in [0.25, 0.65].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Otsu and Sauvola thresholding binarize reversed ghost strokes from the back page, corrupting text line recognition.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I_observed(x,y) = I_recto(x,y) + alpha · Flip(I_verso(x,y)) + eta(x,y)</a:t>
            </a:r>
            <a:br/>
            <a:r>
              <a:t>Classical global binarization fails catastrophically.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Dataset Difficulty 4: Multi-Column Commentaries (Mula vs Tika)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Real Manuscript Failure Mode: Non-Linear Interleaved Reading Sequences</a:t>
            </a:r>
          </a:p>
        </p:txBody>
      </p:sp>
      <p:pic>
        <p:nvPicPr>
          <p:cNvPr id="5" name="Picture 4" descr="page_10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38912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554480"/>
            <a:ext cx="594360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0" y="1554480"/>
            <a:ext cx="59436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Layout Asymmetry &amp; Margin Glosses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993392"/>
            <a:ext cx="5669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Central sacred verse (Mula Shloka, large script) is framed by top, bottom, and side commentary glosses (Tika, small script).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single-column OCR reads horizontally across column boundaries (V_norm &lt; 0.02), interleaving commentary glosses into sacred verses.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V_norm(x) = (V * G_{sigma_c})(x) / max(V * G_{sigma_c}) &lt; 0.02</a:t>
            </a:r>
            <a:br/>
            <a:r>
              <a:t>Reading Order: C_1 &lt; C_2 &lt; ... &lt; C_k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Orthographic &amp; Substrate Degradation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Combined Challenges Encountered Across 3,000+ Historical Manuscript Pages</a:t>
            </a:r>
          </a:p>
        </p:txBody>
      </p:sp>
      <p:pic>
        <p:nvPicPr>
          <p:cNvPr id="5" name="Picture 4" descr="shirorekha_challeng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698480" cy="2286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1. Orthographic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70832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Continuous Shirorekha binding and complex conjunct clusters require morphological headline ablation.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S_word = Union_{i=1}^M G_i  UNION  H_shirorekha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2. Substrate Non-Uniformity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370832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Illumination gradients, fiber rot, and hole artifacts necessitate isoperimetric damage isolation.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I(x,y) = R(x,y) · L(x,y) + eta(x,y),   Psi &gt; 0.85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Mathematical 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Hierarchical Document Layout Representation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Formal Layout Hierarchy (PAGE-XML 2013)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104241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Given input image I in R^(H x W x 3), determine optimal hierarchical decomposition T: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Region boundaries are represented as closed planar polygonal chains P = {(x_1, y_1), ..., (x_V, y_V)}.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Reading order optimization defines an ordered permutation over columns: C_1 &lt; C_2 &lt; ... &lt; C_k.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T = { R_frame, {R_text^(k)}_{k=1}^K, {R_illus^(m)}_{m=1}^M, {R_damage^(d)}_{d=1}^D, {L_j}_{j=1}^J, {W_{j,p}}, {G_{j,p,q}}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Proposed 3-Stage End-to-End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Continuous Pipeline from Raw Capture to Granular PAGE-XML Hierarchy</a:t>
            </a:r>
          </a:p>
        </p:txBody>
      </p:sp>
      <p:pic>
        <p:nvPicPr>
          <p:cNvPr id="5" name="Picture 4" descr="pipeline_flowchar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Foundation Vision Transformer (DINOv2)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Patch Embedding, Multi-Head Self-Attention, and Zero-Shot Manifolds</a:t>
            </a:r>
          </a:p>
        </p:txBody>
      </p:sp>
      <p:pic>
        <p:nvPicPr>
          <p:cNvPr id="5" name="Picture 4" descr="stage1_dino_unet_di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12064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DINOv2 Self-Attention Mechanics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Model: DINOv2-ViT-B/14 (D = 768, P = 14 px).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Extracts patch tokens x_0 without manual polygon labels: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Scaled dot-product attention pairwise affinity: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x_0 = [x_cls; x_p^1 E; ...; x_p^N E] + E_pos</a:t>
            </a:r>
            <a:br/>
            <a:r>
              <a:t>Attention(Q,K,V) = softmax( (Q·K^T)/sqrt(d_k) )·V</a:t>
            </a:r>
            <a:br/>
            <a:r>
              <a:t>A_{ij} = cos(theta_{ij})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Image Preprocessing &amp; Adaptive Binarization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Local Illumination Compensation and Substrate Filtering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Adaptive Gaussian Thresholding (I -&gt;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Compensates for spatial illumination gradients L(x,y).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local neighborhood statistics in window (2r+1) x (2r+1):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Parameter selection: r = 25, C = 5.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B(x,y) = 1  if  I_gray(x,y) &lt; mu_G(x,y) - C  else  0</a:t>
            </a:r>
            <a:br/>
            <a:r>
              <a:t>mu_G(x,y) = (I_gray * G_sigma)(x,y)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Morphological Opening (B -&gt; B_clean)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Isolates true foreground ink from biological fiber artifacts.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Elliptical structuring element E_(3x3) eliminates single-pixel noise: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B_clean = (B (erosion) E_{3x3}) (dilation) E_{3x3}</a:t>
            </a:r>
            <a:br/>
            <a:r>
              <a:t>Preserves character strokes while removing background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Substrate-Adaptive Manifold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Border-Invariant Feature Partitioning for Varied Substrates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1. Substrate Luminance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boundary band luminance to detect substrate category: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Light Paper: L_border &gt; 200 | Dark Palm-Leaf: L_border &lt;= 200.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L_border = (1 / |B|) Sum_{(x,y) in B} I_gray(x,y)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2. Adaptive 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Paper Mode (k=2): Standard K-Means variance minimization.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Palm-Leaf Mode (k=3): Boundary-dominant label mode suppression.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l_bg = mode(L_boundary)</a:t>
            </a:r>
            <a:br/>
            <a:r>
              <a:t>M_text = { i | l_i != l_bg  and  I_mean(i) &lt; I_substrate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6-Channel nnU-Net Deep Semantic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Feature Propagation, Instance Normalization, and Multi-Scale Loss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Feature Propagation &amp; InstanceNorm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5-level U-Net topology with strided convolutions (stride=2).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Instance Normalization normalizes per-image across (H, W):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6 Semantic Channels: TextRegion, Marginalia, Graphic, Frame, Damage, Line.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x^(l) = LeakyReLU( IN( W_2 * LeakyReLU( IN( W_1 * x^(l-1) ) ) ) )</a:t>
            </a:r>
            <a:br/>
            <a:r>
              <a:t>IN(v) = gamma · ((v - mu) / sqrt(sigma^2 + eps)) + beta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Multi-Scale Focal-Dice Compound Loss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Supervised across 3 decoder scales (512, 256, 128) with weights w = [1.0, 0.5, 0.25]: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Compound Focal-Dice Loss formulation: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P(C=c|x,y) = exp(z_c) / Sum exp(z_k)</a:t>
            </a:r>
            <a:br/>
            <a:r>
              <a:t>L_total = Sum w_s [ lambda_1·L_Focal + lambda_2·L_Dice ]</a:t>
            </a:r>
            <a:br/>
            <a:r>
              <a:t>L_Focal = -(1/N) Sum alpha_t (1-p_t)^gamma log(p_t)</a:t>
            </a:r>
            <a:br/>
            <a:r>
              <a:t>L_Dice = 1 - (2·Sum p·y + eps) / (Sum p^2 + Sum y^2 + eps)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Multi-Column Parsing &amp; Graphic Discrimination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Vertical Projection Gutters and Spatial Density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1. Inter-Column Gutter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Vertical projection V(x) across bounding region R.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Gutter condition over continuous gap length: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Partitions multi-column commentaries (Shloka vs Tika).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V_norm(x) = (V * G_{sigma_c})(x) / max(V * G_{sigma_c}) &lt; 0.02</a:t>
            </a:r>
            <a:br/>
            <a:r>
              <a:t>Reading order: C_1 &lt; C_2 &lt; ... &lt; C_k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2. GraphicRegion Illustration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ink density rho_ink and valley frequency nu_valley: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Prevents OCR engine from running over woodblock drawings.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rho_ink = (1 / HW) Sum B(y,x),   nu_valley = N_valleys / (H/100)</a:t>
            </a:r>
            <a:br/>
            <a:r>
              <a:t>GraphicRegion if (rho_ink &gt; 0.30 and nu &lt; 1.5)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2: Multilingual Text Recognition Engine (OCR / HTR)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Transformer-Based Recognition, Recurrent Sequence Slicing, and CTC Loss</a:t>
            </a:r>
          </a:p>
        </p:txBody>
      </p:sp>
      <p:pic>
        <p:nvPicPr>
          <p:cNvPr id="5" name="Picture 4" descr="stage2_ocr_surya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11480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12080" y="1554480"/>
            <a:ext cx="621792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1554480"/>
            <a:ext cx="621792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CRNN Recurrent Slicing &amp; CTC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93392"/>
            <a:ext cx="59436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Text line crop slices x_t encoded via Bidirectional LSTM context: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Surya OCR v2 reference with JSON text cache for 1,054 benchmark folios.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Beam Search with Sanskrit Language Model LM: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h_t = [ Forward_LSTM(x_t); Backward_LSTM(x_t) ] in R^(2·D_hidden)</a:t>
            </a:r>
            <a:br/>
            <a:r>
              <a:t>P(Y|X) = Sum_{pi in B^(-1)(Y)} Product y_{pi_t}^t</a:t>
            </a:r>
            <a:br/>
            <a:r>
              <a:t>Y_hat = argmax_Y [ log P_CTC + alpha·log P_LM + beta·|Y|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2: Text Recognition Output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Acute Line and Word Bounding Polygon Overlays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Stage 2 Visual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Extracted line bounding boxes combined with Surya OCR v2 text recognition.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Line-level text attributes attached to Unicode transcription tags.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Accurate boundary extraction on degraded paper and palm leaves.</a:t>
            </a:r>
          </a:p>
        </p:txBody>
      </p:sp>
      <p:pic>
        <p:nvPicPr>
          <p:cNvPr id="8" name="Picture 7" descr="stage2_output_seg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Granular Word &amp; Character (Akshara) Splitting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Headline (Shirorekha) Slicing and 1D Gaussian Valley Tracking</a:t>
            </a:r>
          </a:p>
        </p:txBody>
      </p:sp>
      <p:pic>
        <p:nvPicPr>
          <p:cNvPr id="5" name="Picture 4" descr="stage3_akshara_split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11480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12080" y="1554480"/>
            <a:ext cx="621792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1554480"/>
            <a:ext cx="621792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Shirorekha Ablation &amp; Valley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93392"/>
            <a:ext cx="59436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Headline peak localization: y* = argmax P_H(y)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Dynamic ablation operator slices headline band of thickness tau: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1D Gaussian smoothed vertical projection S_V(x) tracks character cut-points: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B_ablated(y,x) = 0  if |y - y*| &lt;= tau,   tau = max(2, floor(0.06 H_L))</a:t>
            </a:r>
            <a:br/>
            <a:r>
              <a:t>S_V(x) = (P_V * G_sigma)(x)</a:t>
            </a:r>
            <a:br/>
            <a:r>
              <a:t>dS_V/dx = 0,   d^2S_V/dx^2 &gt; 0,   S_V(x_k*) &lt; theta_valley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Acute Word and Glyph Segmentation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Granular Polygon Verification</a:t>
            </a:r>
          </a:p>
        </p:txBody>
      </p:sp>
      <p:pic>
        <p:nvPicPr>
          <p:cNvPr id="5" name="Picture 4" descr="stage2_output_seg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stage3_final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Physical Damage &amp; Binder Hole Discrimination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Isoperimetric Quotient and Circularity Geometry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Isoperimetric Circularity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Punched palm-leaf binder string holes form near-perfect circles.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Circularity metric Psi for internal contour C: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True holes exhibit Psi &gt; 0.85 with square aspect ratio.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Psi(C) = (4 · pi · Area(C)) / [Perimeter(C)]^2</a:t>
            </a:r>
            <a:br/>
            <a:r>
              <a:t>500 px &lt;= Area(C) &lt;= 8000 px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Geometric Damage Isolation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Damage regions are masked prior to text OCR inference.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Eliminates false-positive character hallucinations (e.g. 'Tha').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C in R_damage &lt;==&gt; (500 &lt;= Area &lt;= 8000) and (Psi &gt; 0.85) and (0.5 &lt;= W/H &lt;= 2.0)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Polygon Simplification &amp; Quality Arbitration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Douglas-Peucker Vector Reduction and Devanagari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Devanagari Quality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candidate transcriptions autonomously: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Rewards Devanagari Unicode blocks [0x0900, 0x097F] (+5 pt):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Penalizes Latin hallucination noise (-12 pt).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S_Dev(T) = Sum omega(c) - 8·Sum count(n,T) + 2·min(|words|, 12)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Ramer-Douglas-Peucker (RDP)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Perpendicular distance threshold eps = 0.005·ArcLength(P):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Reduces polygon vertex count by 82.6% while preserving IoU &gt; 0.98.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d_perp(p_i, seg) &lt;= eps</a:t>
            </a:r>
            <a:br/>
            <a:r>
              <a:t>Vertex count reduced from 285 to 48 pts/region.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Pipeline Progression Across All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End-to-End Processing: Raw Image -&gt; Layout Detection -&gt; OCR -&gt; Granular PAGE-XML</a:t>
            </a:r>
          </a:p>
        </p:txBody>
      </p:sp>
      <p:pic>
        <p:nvPicPr>
          <p:cNvPr id="5" name="Picture 4" descr="output_all_stages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Palm-Leaf Manuscript (Page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Comparison of Input vs. Annotated Output</a:t>
            </a:r>
          </a:p>
        </p:txBody>
      </p:sp>
      <p:pic>
        <p:nvPicPr>
          <p:cNvPr id="5" name="Picture 4" descr="sample_dataset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Degraded Lithographic Folio (Page 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Comparison of Input vs. Annotated Output</a:t>
            </a:r>
          </a:p>
        </p:txBody>
      </p:sp>
      <p:pic>
        <p:nvPicPr>
          <p:cNvPr id="5" name="Picture 4" descr="page_1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Dense Multi-Column Commentary (Page 100)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Accurate Separation of Shloka Verses, Tika Glosses, and Marginalia</a:t>
            </a:r>
          </a:p>
        </p:txBody>
      </p:sp>
      <p:pic>
        <p:nvPicPr>
          <p:cNvPr id="5" name="Picture 4" descr="page_10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0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Illustrated Heritage Folio (Page 104)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Graphic Artwork Region vs. Text Region Discrimination</a:t>
            </a:r>
          </a:p>
        </p:txBody>
      </p:sp>
      <p:pic>
        <p:nvPicPr>
          <p:cNvPr id="5" name="Picture 4" descr="page_104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4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Heavy Ink Bleed-Through Folio (Page 108)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Robust Text Line Extraction under Severe Corrosion</a:t>
            </a:r>
          </a:p>
        </p:txBody>
      </p:sp>
      <p:pic>
        <p:nvPicPr>
          <p:cNvPr id="5" name="Picture 4" descr="page_108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8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Dense Historical Manuscript (Page 110)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Comparison of Raw Input vs. Full PAGE-XML Hierarchy</a:t>
            </a:r>
          </a:p>
        </p:txBody>
      </p:sp>
      <p:pic>
        <p:nvPicPr>
          <p:cNvPr id="5" name="Picture 4" descr="page_11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10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Diverse Horizontal Palm Leaves (Set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Damage Hole Isolation and Line Extraction on Narrow Formats</a:t>
            </a:r>
          </a:p>
        </p:txBody>
      </p:sp>
      <p:pic>
        <p:nvPicPr>
          <p:cNvPr id="5" name="Picture 4" descr="wa_doc_img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wa_doc_img_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Complex Multi-Column Commentary (Folio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Hierarchical Column Gutter Separation and Margin Gloss Parsing</a:t>
            </a:r>
          </a:p>
        </p:txBody>
      </p:sp>
      <p:pic>
        <p:nvPicPr>
          <p:cNvPr id="5" name="Picture 4" descr="wa_doc_img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54480"/>
            <a:ext cx="9966960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30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Multi-Column Commentary Folio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4-Quadrant Layout Analysis: Raw Folio -&gt; TextRegion -&gt; TextLines -&gt; Words/Glyphs</a:t>
            </a:r>
          </a:p>
        </p:txBody>
      </p:sp>
      <p:pic>
        <p:nvPicPr>
          <p:cNvPr id="5" name="Picture 4" descr="wa_doc_img_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54480"/>
            <a:ext cx="9966960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31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Granular Akshara &amp; Glyph Zoom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Micro-Level Verification of Unicode Phonetic Grapheme Clusters</a:t>
            </a:r>
          </a:p>
        </p:txBody>
      </p:sp>
      <p:pic>
        <p:nvPicPr>
          <p:cNvPr id="5" name="Picture 4" descr="wa_doc_im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wa_doc_img_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32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Open-Access Ancient Indic Manuscript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Evaluation on Standard Heritage Repositories (OpenN-Indic Collection)</a:t>
            </a:r>
          </a:p>
        </p:txBody>
      </p:sp>
      <p:pic>
        <p:nvPicPr>
          <p:cNvPr id="5" name="Picture 4" descr="ms101_1996_0001_we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ms102_3305_0001_we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33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Quantitative Transcription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Benchmark Comparison on 1,054 Degraded Test Pages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Error Metric Formulations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Character Error Rate (CER) and Word Error Rate (WER):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Computed via dynamic programming Levenshtein distance: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Accuracy = max(0, 1.0 - CER).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CER = (Sum D_Lev(S_pred, S_gt)) / (Sum Length(S_gt))</a:t>
            </a:r>
            <a:br/>
            <a:r>
              <a:t>WER = (Sum D_Lev(W_pred, W_gt)) / (Sum |W_gt|)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Benchmark Results (1,054 Pages)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Proposed Framework: CER = 15.32%, WER = 9.97%, Accuracy = 84.50%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Tesseract 5 Baseline: CER = 47.82%, WER = 58.30%, Accuracy = 52.18%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Kraken HTR Baseline: CER = 38.60%, WER = 44.12%, Accuracy = 61.40%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Supervised LayoutLMv3: CER = 26.90%, WER = 31.85%, Accuracy = 73.10%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Demonstrates 3.12x error reduction over classical OCR.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Overall Accuracy: 84.50%</a:t>
            </a:r>
            <a:br/>
            <a:r>
              <a:t>Zero Empty Predictions (0.00%) across test folios.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34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Semantic Layout Segmentation and Human Effort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Instance-Level F1-Scores and Paleographer Latency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Semantic Layout F1-Scores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TextRegion F1: 0.951 (Precision: 0.942, Recall: 0.961)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TextLine F1: 0.926 (Precision: 0.918, Recall: 0.935)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GraphicRegion F1: 0.907 (Precision: 0.925, Recall: 0.890)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Damage / Binder Hole F1: 0.954 (Precision: 0.968, Recall: 0.941)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PageFrame F1: 0.988 | Overall Layout Mean F1: 0.932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F1 = 2 · (Precision · Recall) / (Precision + Recall)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Human Correction Effort (PRImA)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Manual Transcription (From Scratch): 22.5 min/page (Effort: 285.0)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Automated Baseline: 11.8 min/page (Effort: 142.6)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Proposed Pre-Annotations: 2.9 min/page (Effort: 14.20)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Achieves 75.4% reduction in manual editing time.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E = 50·|Delta R| + Sum [ (1 - IoU)·100 + 0.5·|Delta V|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35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4: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PAGE-XML 2013 Output Format &amp; Production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PRImA Schema Conformance and Fast GPU Latency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PRImA PAGE-XML 2013 Hierarchy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PcGts (Root Archive Container)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└── Page (Folio dimensions)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├── TextRegion (Column polygons)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│     └── TextLine (Line coordinates)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│           └── Word (Word bbox)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│                 └── Glyph (Akshara bbox)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└── GraphicRegion (Artworks)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Full compliance with Aletheia &amp; Transkribus.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Production Tool Compatibility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Fully compliant with Aletheia, Transkribus, and eScriptorium.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Vertex reduction via RDP prevents editor lag on high-res folios.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End-to-end inference latency: 350 ms per folio on NVIDIA RTX GPU.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Zero per-document parameter tuning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36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4: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Summary of Technical Contributions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Standardized Heritage Document Analysis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Core Technical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104241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1. Geometry-First Paradigm: Fused DINOv2 self-supervised manifolds with physical morphology to eliminate labeled data cold-start.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2. Analytical Shirorekha Ablation: Formulated horizontal peak ablation and vertical Gaussian valley tracking for Akshara cut-points.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3. 6-Channel Deep Segmentation: nnU-Net with Instance Normalization and isoperimetric damage isolation (Psi &gt; 0.85).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4. Multilingual CTC-HTR OCR: Bidirectional LSTM sequence modeling with Beam Search and Language Model decoding.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5. Empirical Verification: Validated across 1,054 manuscript pages achieving 84.50% Accuracy, 15.32% CER, and reducing manual annotation latency by 75.4% under the PRImA PAGE-XML 2013 standard.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Framework Status: Fully Reproducible  ·  Standard PRImA PAGE-XML 2013 Output  ·  Open Academic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37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